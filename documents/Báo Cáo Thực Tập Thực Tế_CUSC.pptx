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gAW+Nw88XQAS6HOkaCG6e+FJf7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Bản chiếu" showMasterSp="0" type="title">
  <p:cSld name="TITLE">
    <p:spTree>
      <p:nvGrpSpPr>
        <p:cNvPr id="26" name="Shape 26"/>
        <p:cNvGrpSpPr/>
        <p:nvPr/>
      </p:nvGrpSpPr>
      <p:grpSpPr>
        <a:xfrm>
          <a:off x="0" y="0"/>
          <a:ext cx="0" cy="0"/>
          <a:chOff x="0" y="0"/>
          <a:chExt cx="0" cy="0"/>
        </a:xfrm>
      </p:grpSpPr>
      <p:grpSp>
        <p:nvGrpSpPr>
          <p:cNvPr id="27" name="Google Shape;27;p16"/>
          <p:cNvGrpSpPr/>
          <p:nvPr/>
        </p:nvGrpSpPr>
        <p:grpSpPr>
          <a:xfrm>
            <a:off x="0" y="-8467"/>
            <a:ext cx="12192000" cy="6866467"/>
            <a:chOff x="0" y="-8467"/>
            <a:chExt cx="12192000" cy="6866467"/>
          </a:xfrm>
        </p:grpSpPr>
        <p:cxnSp>
          <p:nvCxnSpPr>
            <p:cNvPr id="28" name="Google Shape;28;p16"/>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9" name="Google Shape;29;p16"/>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30" name="Google Shape;30;p1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1" name="Google Shape;31;p1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2" name="Google Shape;32;p16"/>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3" name="Google Shape;33;p1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BF4F14">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4" name="Google Shape;34;p1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43AFE2">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5" name="Google Shape;35;p1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6" name="Google Shape;36;p16"/>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7" name="Google Shape;37;p16"/>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grpSp>
      <p:sp>
        <p:nvSpPr>
          <p:cNvPr id="38" name="Google Shape;38;p1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Đầu trang của Phần" type="secHead">
  <p:cSld name="SECTION_HEADER">
    <p:spTree>
      <p:nvGrpSpPr>
        <p:cNvPr id="49" name="Shape 49"/>
        <p:cNvGrpSpPr/>
        <p:nvPr/>
      </p:nvGrpSpPr>
      <p:grpSpPr>
        <a:xfrm>
          <a:off x="0" y="0"/>
          <a:ext cx="0" cy="0"/>
          <a:chOff x="0" y="0"/>
          <a:chExt cx="0" cy="0"/>
        </a:xfrm>
      </p:grpSpPr>
      <p:sp>
        <p:nvSpPr>
          <p:cNvPr id="50" name="Google Shape;50;p1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i Nội dung" type="twoObj">
  <p:cSld name="TWO_OBJECTS">
    <p:spTree>
      <p:nvGrpSpPr>
        <p:cNvPr id="55" name="Shape 55"/>
        <p:cNvGrpSpPr/>
        <p:nvPr/>
      </p:nvGrpSpPr>
      <p:grpSpPr>
        <a:xfrm>
          <a:off x="0" y="0"/>
          <a:ext cx="0" cy="0"/>
          <a:chOff x="0" y="0"/>
          <a:chExt cx="0" cy="0"/>
        </a:xfrm>
      </p:grpSpPr>
      <p:sp>
        <p:nvSpPr>
          <p:cNvPr id="56" name="Google Shape;56;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8" name="Google Shape;58;p1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ép so sánh" type="twoTxTwoObj">
  <p:cSld name="TWO_OBJECTS_WITH_TEXT">
    <p:spTree>
      <p:nvGrpSpPr>
        <p:cNvPr id="62" name="Shape 62"/>
        <p:cNvGrpSpPr/>
        <p:nvPr/>
      </p:nvGrpSpPr>
      <p:grpSpPr>
        <a:xfrm>
          <a:off x="0" y="0"/>
          <a:ext cx="0" cy="0"/>
          <a:chOff x="0" y="0"/>
          <a:chExt cx="0" cy="0"/>
        </a:xfrm>
      </p:grpSpPr>
      <p:sp>
        <p:nvSpPr>
          <p:cNvPr id="63" name="Google Shape;63;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2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2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2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ỉ Tiêu đề" type="titleOnly">
  <p:cSld name="TITLE_ONLY">
    <p:spTree>
      <p:nvGrpSpPr>
        <p:cNvPr id="71" name="Shape 71"/>
        <p:cNvGrpSpPr/>
        <p:nvPr/>
      </p:nvGrpSpPr>
      <p:grpSpPr>
        <a:xfrm>
          <a:off x="0" y="0"/>
          <a:ext cx="0" cy="0"/>
          <a:chOff x="0" y="0"/>
          <a:chExt cx="0" cy="0"/>
        </a:xfrm>
      </p:grpSpPr>
      <p:sp>
        <p:nvSpPr>
          <p:cNvPr id="72" name="Google Shape;72;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ống" type="blank">
  <p:cSld name="BLANK">
    <p:spTree>
      <p:nvGrpSpPr>
        <p:cNvPr id="76" name="Shape 76"/>
        <p:cNvGrpSpPr/>
        <p:nvPr/>
      </p:nvGrpSpPr>
      <p:grpSpPr>
        <a:xfrm>
          <a:off x="0" y="0"/>
          <a:ext cx="0" cy="0"/>
          <a:chOff x="0" y="0"/>
          <a:chExt cx="0" cy="0"/>
        </a:xfrm>
      </p:grpSpPr>
      <p:sp>
        <p:nvSpPr>
          <p:cNvPr id="77" name="Google Shape;77;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ội dung với Chú thích" type="objTx">
  <p:cSld name="OBJECT_WITH_CAPTION_TEXT">
    <p:spTree>
      <p:nvGrpSpPr>
        <p:cNvPr id="80" name="Shape 80"/>
        <p:cNvGrpSpPr/>
        <p:nvPr/>
      </p:nvGrpSpPr>
      <p:grpSpPr>
        <a:xfrm>
          <a:off x="0" y="0"/>
          <a:ext cx="0" cy="0"/>
          <a:chOff x="0" y="0"/>
          <a:chExt cx="0" cy="0"/>
        </a:xfrm>
      </p:grpSpPr>
      <p:sp>
        <p:nvSpPr>
          <p:cNvPr id="81" name="Google Shape;81;p2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2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h với Chú thích" type="picTx">
  <p:cSld name="PICTURE_WITH_CAPTION_TEXT">
    <p:spTree>
      <p:nvGrpSpPr>
        <p:cNvPr id="87" name="Shape 87"/>
        <p:cNvGrpSpPr/>
        <p:nvPr/>
      </p:nvGrpSpPr>
      <p:grpSpPr>
        <a:xfrm>
          <a:off x="0" y="0"/>
          <a:ext cx="0" cy="0"/>
          <a:chOff x="0" y="0"/>
          <a:chExt cx="0" cy="0"/>
        </a:xfrm>
      </p:grpSpPr>
      <p:sp>
        <p:nvSpPr>
          <p:cNvPr id="88" name="Google Shape;88;p2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4"/>
          <p:cNvSpPr/>
          <p:nvPr>
            <p:ph idx="2" type="pic"/>
          </p:nvPr>
        </p:nvSpPr>
        <p:spPr>
          <a:xfrm>
            <a:off x="677334" y="609600"/>
            <a:ext cx="8596668" cy="3845718"/>
          </a:xfrm>
          <a:prstGeom prst="rect">
            <a:avLst/>
          </a:prstGeom>
          <a:noFill/>
          <a:ln>
            <a:noFill/>
          </a:ln>
        </p:spPr>
      </p:sp>
      <p:sp>
        <p:nvSpPr>
          <p:cNvPr id="90" name="Google Shape;90;p2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và Chú thích">
  <p:cSld name="Tiêu đề và Chú thích">
    <p:spTree>
      <p:nvGrpSpPr>
        <p:cNvPr id="94" name="Shape 94"/>
        <p:cNvGrpSpPr/>
        <p:nvPr/>
      </p:nvGrpSpPr>
      <p:grpSpPr>
        <a:xfrm>
          <a:off x="0" y="0"/>
          <a:ext cx="0" cy="0"/>
          <a:chOff x="0" y="0"/>
          <a:chExt cx="0" cy="0"/>
        </a:xfrm>
      </p:grpSpPr>
      <p:sp>
        <p:nvSpPr>
          <p:cNvPr id="95" name="Google Shape;95;p2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ích dẫn cùng với Chú thích">
  <p:cSld name="Trích dẫn cùng với Chú thích">
    <p:spTree>
      <p:nvGrpSpPr>
        <p:cNvPr id="100" name="Shape 100"/>
        <p:cNvGrpSpPr/>
        <p:nvPr/>
      </p:nvGrpSpPr>
      <p:grpSpPr>
        <a:xfrm>
          <a:off x="0" y="0"/>
          <a:ext cx="0" cy="0"/>
          <a:chOff x="0" y="0"/>
          <a:chExt cx="0" cy="0"/>
        </a:xfrm>
      </p:grpSpPr>
      <p:sp>
        <p:nvSpPr>
          <p:cNvPr id="101" name="Google Shape;101;p2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2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2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43AFE2"/>
                </a:solidFill>
                <a:latin typeface="Arial"/>
                <a:ea typeface="Arial"/>
                <a:cs typeface="Arial"/>
                <a:sym typeface="Arial"/>
              </a:rPr>
              <a:t>“</a:t>
            </a:r>
            <a:endParaRPr/>
          </a:p>
        </p:txBody>
      </p:sp>
      <p:sp>
        <p:nvSpPr>
          <p:cNvPr id="108" name="Google Shape;108;p2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43AFE2"/>
                </a:solidFill>
                <a:latin typeface="Arial"/>
                <a:ea typeface="Arial"/>
                <a:cs typeface="Arial"/>
                <a:sym typeface="Arial"/>
              </a:rPr>
              <a:t>”</a:t>
            </a:r>
            <a:endParaRPr sz="1800">
              <a:solidFill>
                <a:srgbClr val="43AFE2"/>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nh Thiếp">
  <p:cSld name="Danh Thiếp">
    <p:spTree>
      <p:nvGrpSpPr>
        <p:cNvPr id="109" name="Shape 109"/>
        <p:cNvGrpSpPr/>
        <p:nvPr/>
      </p:nvGrpSpPr>
      <p:grpSpPr>
        <a:xfrm>
          <a:off x="0" y="0"/>
          <a:ext cx="0" cy="0"/>
          <a:chOff x="0" y="0"/>
          <a:chExt cx="0" cy="0"/>
        </a:xfrm>
      </p:grpSpPr>
      <p:sp>
        <p:nvSpPr>
          <p:cNvPr id="110" name="Google Shape;110;p2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ích dẫn Danh Thiếp">
  <p:cSld name="Trích dẫn Danh Thiếp">
    <p:spTree>
      <p:nvGrpSpPr>
        <p:cNvPr id="115" name="Shape 115"/>
        <p:cNvGrpSpPr/>
        <p:nvPr/>
      </p:nvGrpSpPr>
      <p:grpSpPr>
        <a:xfrm>
          <a:off x="0" y="0"/>
          <a:ext cx="0" cy="0"/>
          <a:chOff x="0" y="0"/>
          <a:chExt cx="0" cy="0"/>
        </a:xfrm>
      </p:grpSpPr>
      <p:sp>
        <p:nvSpPr>
          <p:cNvPr id="116" name="Google Shape;116;p2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2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2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43AFE2"/>
                </a:solidFill>
                <a:latin typeface="Arial"/>
                <a:ea typeface="Arial"/>
                <a:cs typeface="Arial"/>
                <a:sym typeface="Arial"/>
              </a:rPr>
              <a:t>“</a:t>
            </a:r>
            <a:endParaRPr/>
          </a:p>
        </p:txBody>
      </p:sp>
      <p:sp>
        <p:nvSpPr>
          <p:cNvPr id="123" name="Google Shape;123;p2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43AFE2"/>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2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2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2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và Văn bản Dọc" type="vertTx">
  <p:cSld name="VERTICAL_TEXT">
    <p:spTree>
      <p:nvGrpSpPr>
        <p:cNvPr id="131" name="Shape 131"/>
        <p:cNvGrpSpPr/>
        <p:nvPr/>
      </p:nvGrpSpPr>
      <p:grpSpPr>
        <a:xfrm>
          <a:off x="0" y="0"/>
          <a:ext cx="0" cy="0"/>
          <a:chOff x="0" y="0"/>
          <a:chExt cx="0" cy="0"/>
        </a:xfrm>
      </p:grpSpPr>
      <p:sp>
        <p:nvSpPr>
          <p:cNvPr id="132" name="Google Shape;132;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3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ề Dọc và Văn bản" type="vertTitleAndTx">
  <p:cSld name="VERTICAL_TITLE_AND_VERTICAL_TEXT">
    <p:spTree>
      <p:nvGrpSpPr>
        <p:cNvPr id="137" name="Shape 137"/>
        <p:cNvGrpSpPr/>
        <p:nvPr/>
      </p:nvGrpSpPr>
      <p:grpSpPr>
        <a:xfrm>
          <a:off x="0" y="0"/>
          <a:ext cx="0" cy="0"/>
          <a:chOff x="0" y="0"/>
          <a:chExt cx="0" cy="0"/>
        </a:xfrm>
      </p:grpSpPr>
      <p:sp>
        <p:nvSpPr>
          <p:cNvPr id="138" name="Google Shape;138;p3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3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5"/>
          <p:cNvGrpSpPr/>
          <p:nvPr/>
        </p:nvGrpSpPr>
        <p:grpSpPr>
          <a:xfrm>
            <a:off x="0" y="-8467"/>
            <a:ext cx="12192000" cy="6866467"/>
            <a:chOff x="0" y="-8467"/>
            <a:chExt cx="12192000" cy="6866467"/>
          </a:xfrm>
        </p:grpSpPr>
        <p:cxnSp>
          <p:nvCxnSpPr>
            <p:cNvPr id="11" name="Google Shape;11;p15"/>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12" name="Google Shape;12;p15"/>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13" name="Google Shape;13;p1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4" name="Google Shape;14;p1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5" name="Google Shape;15;p15"/>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6" name="Google Shape;16;p1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BF4F14">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7" name="Google Shape;17;p1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43AFE2">
                <a:alpha val="69803"/>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8" name="Google Shape;18;p1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 name="Google Shape;19;p15"/>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0" name="Google Shape;20;p15"/>
            <p:cNvSpPr/>
            <p:nvPr/>
          </p:nvSpPr>
          <p:spPr>
            <a:xfrm>
              <a:off x="0" y="4013200"/>
              <a:ext cx="448733" cy="2844800"/>
            </a:xfrm>
            <a:prstGeom prst="triangle">
              <a:avLst>
                <a:gd fmla="val 0" name="adj"/>
              </a:avLst>
            </a:prstGeom>
            <a:solidFill>
              <a:schemeClr val="accent1">
                <a:alpha val="84705"/>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grpSp>
      <p:sp>
        <p:nvSpPr>
          <p:cNvPr id="21" name="Google Shape;21;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900">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900" u="none">
                <a:solidFill>
                  <a:schemeClr val="accent1"/>
                </a:solidFill>
                <a:latin typeface="Trebuchet MS"/>
                <a:ea typeface="Trebuchet MS"/>
                <a:cs typeface="Trebuchet MS"/>
                <a:sym typeface="Trebuchet MS"/>
              </a:defRPr>
            </a:lvl1pPr>
            <a:lvl2pPr indent="0" lvl="1" marL="0" marR="0" rtl="0" algn="r">
              <a:spcBef>
                <a:spcPts val="0"/>
              </a:spcBef>
              <a:buNone/>
              <a:defRPr b="0" sz="900" u="none">
                <a:solidFill>
                  <a:schemeClr val="accent1"/>
                </a:solidFill>
                <a:latin typeface="Trebuchet MS"/>
                <a:ea typeface="Trebuchet MS"/>
                <a:cs typeface="Trebuchet MS"/>
                <a:sym typeface="Trebuchet MS"/>
              </a:defRPr>
            </a:lvl2pPr>
            <a:lvl3pPr indent="0" lvl="2" marL="0" marR="0" rtl="0" algn="r">
              <a:spcBef>
                <a:spcPts val="0"/>
              </a:spcBef>
              <a:buNone/>
              <a:defRPr b="0" sz="900" u="none">
                <a:solidFill>
                  <a:schemeClr val="accent1"/>
                </a:solidFill>
                <a:latin typeface="Trebuchet MS"/>
                <a:ea typeface="Trebuchet MS"/>
                <a:cs typeface="Trebuchet MS"/>
                <a:sym typeface="Trebuchet MS"/>
              </a:defRPr>
            </a:lvl3pPr>
            <a:lvl4pPr indent="0" lvl="3" marL="0" marR="0" rtl="0" algn="r">
              <a:spcBef>
                <a:spcPts val="0"/>
              </a:spcBef>
              <a:buNone/>
              <a:defRPr b="0" sz="900" u="none">
                <a:solidFill>
                  <a:schemeClr val="accent1"/>
                </a:solidFill>
                <a:latin typeface="Trebuchet MS"/>
                <a:ea typeface="Trebuchet MS"/>
                <a:cs typeface="Trebuchet MS"/>
                <a:sym typeface="Trebuchet MS"/>
              </a:defRPr>
            </a:lvl4pPr>
            <a:lvl5pPr indent="0" lvl="4" marL="0" marR="0" rtl="0" algn="r">
              <a:spcBef>
                <a:spcPts val="0"/>
              </a:spcBef>
              <a:buNone/>
              <a:defRPr b="0" sz="900" u="none">
                <a:solidFill>
                  <a:schemeClr val="accent1"/>
                </a:solidFill>
                <a:latin typeface="Trebuchet MS"/>
                <a:ea typeface="Trebuchet MS"/>
                <a:cs typeface="Trebuchet MS"/>
                <a:sym typeface="Trebuchet MS"/>
              </a:defRPr>
            </a:lvl5pPr>
            <a:lvl6pPr indent="0" lvl="5" marL="0" marR="0" rtl="0" algn="r">
              <a:spcBef>
                <a:spcPts val="0"/>
              </a:spcBef>
              <a:buNone/>
              <a:defRPr b="0" sz="900" u="none">
                <a:solidFill>
                  <a:schemeClr val="accent1"/>
                </a:solidFill>
                <a:latin typeface="Trebuchet MS"/>
                <a:ea typeface="Trebuchet MS"/>
                <a:cs typeface="Trebuchet MS"/>
                <a:sym typeface="Trebuchet MS"/>
              </a:defRPr>
            </a:lvl6pPr>
            <a:lvl7pPr indent="0" lvl="6" marL="0" marR="0" rtl="0" algn="r">
              <a:spcBef>
                <a:spcPts val="0"/>
              </a:spcBef>
              <a:buNone/>
              <a:defRPr b="0" sz="900" u="none">
                <a:solidFill>
                  <a:schemeClr val="accent1"/>
                </a:solidFill>
                <a:latin typeface="Trebuchet MS"/>
                <a:ea typeface="Trebuchet MS"/>
                <a:cs typeface="Trebuchet MS"/>
                <a:sym typeface="Trebuchet MS"/>
              </a:defRPr>
            </a:lvl7pPr>
            <a:lvl8pPr indent="0" lvl="7" marL="0" marR="0" rtl="0" algn="r">
              <a:spcBef>
                <a:spcPts val="0"/>
              </a:spcBef>
              <a:buNone/>
              <a:defRPr b="0" sz="900" u="none">
                <a:solidFill>
                  <a:schemeClr val="accent1"/>
                </a:solidFill>
                <a:latin typeface="Trebuchet MS"/>
                <a:ea typeface="Trebuchet MS"/>
                <a:cs typeface="Trebuchet MS"/>
                <a:sym typeface="Trebuchet MS"/>
              </a:defRPr>
            </a:lvl8pPr>
            <a:lvl9pPr indent="0" lvl="8" marL="0" marR="0" rtl="0" algn="r">
              <a:spcBef>
                <a:spcPts val="0"/>
              </a:spcBef>
              <a:buNone/>
              <a:defRPr b="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p:nvPr/>
        </p:nvSpPr>
        <p:spPr>
          <a:xfrm>
            <a:off x="3241963" y="75074"/>
            <a:ext cx="5708073" cy="4431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B1B27"/>
              </a:buClr>
              <a:buSzPts val="2550"/>
              <a:buFont typeface="Raleway"/>
              <a:buNone/>
            </a:pPr>
            <a:r>
              <a:rPr i="0" lang="en-US" sz="3200" u="none" cap="none" strike="noStrike">
                <a:solidFill>
                  <a:srgbClr val="1B1B27"/>
                </a:solidFill>
                <a:latin typeface="Times New Roman"/>
                <a:ea typeface="Times New Roman"/>
                <a:cs typeface="Times New Roman"/>
                <a:sym typeface="Times New Roman"/>
              </a:rPr>
              <a:t>Hệ thống quản lý chuẩn giảng viên</a:t>
            </a:r>
            <a:endParaRPr i="0" sz="3200" u="none" cap="none" strike="noStrike">
              <a:solidFill>
                <a:schemeClr val="dk1"/>
              </a:solidFill>
              <a:latin typeface="Times New Roman"/>
              <a:ea typeface="Times New Roman"/>
              <a:cs typeface="Times New Roman"/>
              <a:sym typeface="Times New Roman"/>
            </a:endParaRPr>
          </a:p>
        </p:txBody>
      </p:sp>
      <p:sp>
        <p:nvSpPr>
          <p:cNvPr id="149" name="Google Shape;149;p1"/>
          <p:cNvSpPr/>
          <p:nvPr/>
        </p:nvSpPr>
        <p:spPr>
          <a:xfrm>
            <a:off x="1433214" y="880247"/>
            <a:ext cx="8916243" cy="207600"/>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3C3939"/>
              </a:buClr>
              <a:buSzPts val="1000"/>
              <a:buFont typeface="Roboto"/>
              <a:buNone/>
            </a:pPr>
            <a:r>
              <a:rPr b="0" i="0" lang="en-US" sz="2300" u="none" cap="none" strike="noStrike">
                <a:solidFill>
                  <a:srgbClr val="3C3939"/>
                </a:solidFill>
                <a:latin typeface="Times New Roman"/>
                <a:ea typeface="Times New Roman"/>
                <a:cs typeface="Times New Roman"/>
                <a:sym typeface="Times New Roman"/>
              </a:rPr>
              <a:t>TRƯỜNG ĐẠI HỌC CẦN THƠ</a:t>
            </a:r>
            <a:endParaRPr b="0" i="0" sz="2300" u="none" cap="none" strike="noStrike">
              <a:solidFill>
                <a:schemeClr val="dk1"/>
              </a:solidFill>
              <a:latin typeface="Times New Roman"/>
              <a:ea typeface="Times New Roman"/>
              <a:cs typeface="Times New Roman"/>
              <a:sym typeface="Times New Roman"/>
            </a:endParaRPr>
          </a:p>
        </p:txBody>
      </p:sp>
      <p:pic>
        <p:nvPicPr>
          <p:cNvPr descr="preencoded.png" id="150" name="Google Shape;150;p1"/>
          <p:cNvPicPr preferRelativeResize="0"/>
          <p:nvPr/>
        </p:nvPicPr>
        <p:blipFill rotWithShape="1">
          <a:blip r:embed="rId3">
            <a:alphaModFix/>
          </a:blip>
          <a:srcRect b="0" l="0" r="0" t="0"/>
          <a:stretch/>
        </p:blipFill>
        <p:spPr>
          <a:xfrm>
            <a:off x="396661" y="675347"/>
            <a:ext cx="2073105" cy="1593403"/>
          </a:xfrm>
          <a:prstGeom prst="rect">
            <a:avLst/>
          </a:prstGeom>
          <a:noFill/>
          <a:ln>
            <a:noFill/>
          </a:ln>
        </p:spPr>
      </p:pic>
      <p:sp>
        <p:nvSpPr>
          <p:cNvPr id="151" name="Google Shape;151;p1"/>
          <p:cNvSpPr/>
          <p:nvPr/>
        </p:nvSpPr>
        <p:spPr>
          <a:xfrm>
            <a:off x="1495417" y="1264450"/>
            <a:ext cx="8916243" cy="207600"/>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3C3939"/>
              </a:buClr>
              <a:buSzPts val="1000"/>
              <a:buFont typeface="Roboto"/>
              <a:buNone/>
            </a:pPr>
            <a:r>
              <a:rPr i="0" lang="en-US" sz="2300" u="none" cap="none" strike="noStrike">
                <a:solidFill>
                  <a:srgbClr val="3C3939"/>
                </a:solidFill>
                <a:latin typeface="Times New Roman"/>
                <a:ea typeface="Times New Roman"/>
                <a:cs typeface="Times New Roman"/>
                <a:sym typeface="Times New Roman"/>
              </a:rPr>
              <a:t>TRUNG TÂM CÔNG NGHỆ PHẦN MỀM</a:t>
            </a:r>
            <a:endParaRPr i="0" sz="2300" u="none" cap="none" strike="noStrike">
              <a:solidFill>
                <a:schemeClr val="dk1"/>
              </a:solidFill>
              <a:latin typeface="Times New Roman"/>
              <a:ea typeface="Times New Roman"/>
              <a:cs typeface="Times New Roman"/>
              <a:sym typeface="Times New Roman"/>
            </a:endParaRPr>
          </a:p>
        </p:txBody>
      </p:sp>
      <p:pic>
        <p:nvPicPr>
          <p:cNvPr descr="preencoded.png" id="152" name="Google Shape;152;p1"/>
          <p:cNvPicPr preferRelativeResize="0"/>
          <p:nvPr/>
        </p:nvPicPr>
        <p:blipFill rotWithShape="1">
          <a:blip r:embed="rId4">
            <a:alphaModFix/>
          </a:blip>
          <a:srcRect b="0" l="0" r="0" t="0"/>
          <a:stretch/>
        </p:blipFill>
        <p:spPr>
          <a:xfrm>
            <a:off x="9420223" y="817325"/>
            <a:ext cx="1982874" cy="1309449"/>
          </a:xfrm>
          <a:prstGeom prst="rect">
            <a:avLst/>
          </a:prstGeom>
          <a:noFill/>
          <a:ln>
            <a:noFill/>
          </a:ln>
        </p:spPr>
      </p:pic>
      <p:sp>
        <p:nvSpPr>
          <p:cNvPr id="153" name="Google Shape;153;p1"/>
          <p:cNvSpPr/>
          <p:nvPr/>
        </p:nvSpPr>
        <p:spPr>
          <a:xfrm>
            <a:off x="2814915" y="2150681"/>
            <a:ext cx="6152840" cy="324300"/>
          </a:xfrm>
          <a:prstGeom prst="rect">
            <a:avLst/>
          </a:prstGeom>
          <a:noFill/>
          <a:ln>
            <a:noFill/>
          </a:ln>
        </p:spPr>
        <p:txBody>
          <a:bodyPr anchorCtr="0" anchor="t" bIns="0" lIns="0" spcFirstLastPara="1" rIns="0" wrap="square" tIns="0">
            <a:noAutofit/>
          </a:bodyPr>
          <a:lstStyle/>
          <a:p>
            <a:pPr indent="0" lvl="0" marL="0" marR="0" rtl="0" algn="l">
              <a:lnSpc>
                <a:spcPct val="127500"/>
              </a:lnSpc>
              <a:spcBef>
                <a:spcPts val="0"/>
              </a:spcBef>
              <a:spcAft>
                <a:spcPts val="0"/>
              </a:spcAft>
              <a:buClr>
                <a:srgbClr val="1B1B27"/>
              </a:buClr>
              <a:buSzPts val="2000"/>
              <a:buFont typeface="Raleway"/>
              <a:buNone/>
            </a:pPr>
            <a:r>
              <a:rPr b="0" i="0" lang="en-US" sz="2000" u="none" cap="none" strike="noStrike">
                <a:solidFill>
                  <a:srgbClr val="1B1B27"/>
                </a:solidFill>
                <a:latin typeface="Times New Roman"/>
                <a:ea typeface="Times New Roman"/>
                <a:cs typeface="Times New Roman"/>
                <a:sym typeface="Times New Roman"/>
              </a:rPr>
              <a:t>THỰC TẬP TỐT NGHIỆP LẬP TRÌNH VIÊN QUỐC TẾ</a:t>
            </a:r>
            <a:endParaRPr b="0" i="0" sz="2000" u="none" cap="none" strike="noStrike">
              <a:solidFill>
                <a:schemeClr val="dk1"/>
              </a:solidFill>
              <a:latin typeface="Times New Roman"/>
              <a:ea typeface="Times New Roman"/>
              <a:cs typeface="Times New Roman"/>
              <a:sym typeface="Times New Roman"/>
            </a:endParaRPr>
          </a:p>
        </p:txBody>
      </p:sp>
      <p:sp>
        <p:nvSpPr>
          <p:cNvPr id="154" name="Google Shape;154;p1"/>
          <p:cNvSpPr/>
          <p:nvPr/>
        </p:nvSpPr>
        <p:spPr>
          <a:xfrm>
            <a:off x="1433213" y="2635938"/>
            <a:ext cx="8916243" cy="207600"/>
          </a:xfrm>
          <a:prstGeom prst="rect">
            <a:avLst/>
          </a:prstGeom>
          <a:noFill/>
          <a:ln>
            <a:noFill/>
          </a:ln>
        </p:spPr>
        <p:txBody>
          <a:bodyPr anchorCtr="0" anchor="t" bIns="0" lIns="0" spcFirstLastPara="1" rIns="0" wrap="square" tIns="0">
            <a:noAutofit/>
          </a:bodyPr>
          <a:lstStyle/>
          <a:p>
            <a:pPr indent="0" lvl="0" marL="0" marR="0" rtl="0" algn="ctr">
              <a:lnSpc>
                <a:spcPct val="160000"/>
              </a:lnSpc>
              <a:spcBef>
                <a:spcPts val="0"/>
              </a:spcBef>
              <a:spcAft>
                <a:spcPts val="0"/>
              </a:spcAft>
              <a:buClr>
                <a:srgbClr val="3C3939"/>
              </a:buClr>
              <a:buSzPts val="1000"/>
              <a:buFont typeface="Roboto"/>
              <a:buNone/>
            </a:pPr>
            <a:r>
              <a:rPr i="0" lang="en-US" sz="1700" u="none" cap="none" strike="noStrike">
                <a:solidFill>
                  <a:srgbClr val="3C3939"/>
                </a:solidFill>
                <a:latin typeface="Times New Roman"/>
                <a:ea typeface="Times New Roman"/>
                <a:cs typeface="Times New Roman"/>
                <a:sym typeface="Times New Roman"/>
              </a:rPr>
              <a:t>Đơn vị thực tập: Trung tâm Công nghệ Phần mềm Đại học Cần Thơ</a:t>
            </a:r>
            <a:endParaRPr i="0" sz="1700" u="none" cap="none" strike="noStrike">
              <a:solidFill>
                <a:schemeClr val="dk1"/>
              </a:solidFill>
              <a:latin typeface="Times New Roman"/>
              <a:ea typeface="Times New Roman"/>
              <a:cs typeface="Times New Roman"/>
              <a:sym typeface="Times New Roman"/>
            </a:endParaRPr>
          </a:p>
        </p:txBody>
      </p:sp>
      <p:sp>
        <p:nvSpPr>
          <p:cNvPr id="155" name="Google Shape;155;p1"/>
          <p:cNvSpPr/>
          <p:nvPr/>
        </p:nvSpPr>
        <p:spPr>
          <a:xfrm>
            <a:off x="396661" y="3514170"/>
            <a:ext cx="2611909" cy="5319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B1B27"/>
              </a:buClr>
              <a:buSzPts val="1250"/>
              <a:buFont typeface="Raleway"/>
              <a:buNone/>
            </a:pPr>
            <a:r>
              <a:rPr b="0" i="0" lang="en-US" sz="2400" u="none" cap="none" strike="noStrike">
                <a:solidFill>
                  <a:srgbClr val="1B1B27"/>
                </a:solidFill>
                <a:latin typeface="Times New Roman"/>
                <a:ea typeface="Times New Roman"/>
                <a:cs typeface="Times New Roman"/>
                <a:sym typeface="Times New Roman"/>
              </a:rPr>
              <a:t>GV. Hướng dẫn:</a:t>
            </a:r>
            <a:endParaRPr b="0" i="0" sz="2400" u="none" cap="none" strike="noStrike">
              <a:solidFill>
                <a:schemeClr val="dk1"/>
              </a:solidFill>
              <a:latin typeface="Times New Roman"/>
              <a:ea typeface="Times New Roman"/>
              <a:cs typeface="Times New Roman"/>
              <a:sym typeface="Times New Roman"/>
            </a:endParaRPr>
          </a:p>
        </p:txBody>
      </p:sp>
      <p:sp>
        <p:nvSpPr>
          <p:cNvPr id="156" name="Google Shape;156;p1"/>
          <p:cNvSpPr/>
          <p:nvPr/>
        </p:nvSpPr>
        <p:spPr>
          <a:xfrm>
            <a:off x="396661" y="3815420"/>
            <a:ext cx="3479928" cy="3243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000"/>
              <a:buFont typeface="Roboto"/>
              <a:buNone/>
            </a:pPr>
            <a:r>
              <a:rPr i="0" lang="en-US" sz="2400" u="none" cap="none" strike="noStrike">
                <a:solidFill>
                  <a:srgbClr val="3C3939"/>
                </a:solidFill>
                <a:latin typeface="Times New Roman"/>
                <a:ea typeface="Times New Roman"/>
                <a:cs typeface="Times New Roman"/>
                <a:sym typeface="Times New Roman"/>
              </a:rPr>
              <a:t>MSc. Lê Thị Minh Loan</a:t>
            </a:r>
            <a:endParaRPr i="0" sz="2400" u="none" cap="none" strike="noStrike">
              <a:solidFill>
                <a:schemeClr val="dk1"/>
              </a:solidFill>
              <a:latin typeface="Times New Roman"/>
              <a:ea typeface="Times New Roman"/>
              <a:cs typeface="Times New Roman"/>
              <a:sym typeface="Times New Roman"/>
            </a:endParaRPr>
          </a:p>
        </p:txBody>
      </p:sp>
      <p:sp>
        <p:nvSpPr>
          <p:cNvPr id="157" name="Google Shape;157;p1"/>
          <p:cNvSpPr/>
          <p:nvPr/>
        </p:nvSpPr>
        <p:spPr>
          <a:xfrm>
            <a:off x="7784073" y="3607266"/>
            <a:ext cx="1982874" cy="443100"/>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1B1B27"/>
              </a:buClr>
              <a:buSzPts val="1250"/>
              <a:buFont typeface="Raleway"/>
              <a:buNone/>
            </a:pPr>
            <a:r>
              <a:rPr i="0" lang="en-US" sz="2400" u="none" cap="none" strike="noStrike">
                <a:solidFill>
                  <a:srgbClr val="1B1B27"/>
                </a:solidFill>
                <a:latin typeface="Times New Roman"/>
                <a:ea typeface="Times New Roman"/>
                <a:cs typeface="Times New Roman"/>
                <a:sym typeface="Times New Roman"/>
              </a:rPr>
              <a:t>SV. Thực hiện:</a:t>
            </a:r>
            <a:endParaRPr i="0" sz="2400" u="none" cap="none" strike="noStrike">
              <a:solidFill>
                <a:schemeClr val="dk1"/>
              </a:solidFill>
              <a:latin typeface="Times New Roman"/>
              <a:ea typeface="Times New Roman"/>
              <a:cs typeface="Times New Roman"/>
              <a:sym typeface="Times New Roman"/>
            </a:endParaRPr>
          </a:p>
        </p:txBody>
      </p:sp>
      <p:sp>
        <p:nvSpPr>
          <p:cNvPr id="158" name="Google Shape;158;p1"/>
          <p:cNvSpPr/>
          <p:nvPr/>
        </p:nvSpPr>
        <p:spPr>
          <a:xfrm>
            <a:off x="7739433" y="4234180"/>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A23130 - Phạm Tấn Bo</a:t>
            </a:r>
            <a:endParaRPr i="0" sz="1800" u="none" cap="none" strike="noStrike">
              <a:solidFill>
                <a:schemeClr val="dk1"/>
              </a:solidFill>
              <a:latin typeface="Times New Roman"/>
              <a:ea typeface="Times New Roman"/>
              <a:cs typeface="Times New Roman"/>
              <a:sym typeface="Times New Roman"/>
            </a:endParaRPr>
          </a:p>
        </p:txBody>
      </p:sp>
      <p:sp>
        <p:nvSpPr>
          <p:cNvPr id="159" name="Google Shape;159;p1"/>
          <p:cNvSpPr/>
          <p:nvPr/>
        </p:nvSpPr>
        <p:spPr>
          <a:xfrm>
            <a:off x="7739433" y="4780662"/>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A23032 - Phạm Nhựt Gia Huy</a:t>
            </a:r>
            <a:endParaRPr i="0" sz="1800" u="none" cap="none" strike="noStrike">
              <a:solidFill>
                <a:schemeClr val="dk1"/>
              </a:solidFill>
              <a:latin typeface="Times New Roman"/>
              <a:ea typeface="Times New Roman"/>
              <a:cs typeface="Times New Roman"/>
              <a:sym typeface="Times New Roman"/>
            </a:endParaRPr>
          </a:p>
        </p:txBody>
      </p:sp>
      <p:sp>
        <p:nvSpPr>
          <p:cNvPr id="160" name="Google Shape;160;p1"/>
          <p:cNvSpPr/>
          <p:nvPr/>
        </p:nvSpPr>
        <p:spPr>
          <a:xfrm>
            <a:off x="7739433" y="4503113"/>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A23081 - Nguyễn Sỉ Minh Nhật</a:t>
            </a:r>
            <a:endParaRPr i="0" sz="1800" u="none" cap="none" strike="noStrike">
              <a:solidFill>
                <a:schemeClr val="dk1"/>
              </a:solidFill>
              <a:latin typeface="Times New Roman"/>
              <a:ea typeface="Times New Roman"/>
              <a:cs typeface="Times New Roman"/>
              <a:sym typeface="Times New Roman"/>
            </a:endParaRPr>
          </a:p>
        </p:txBody>
      </p:sp>
      <p:sp>
        <p:nvSpPr>
          <p:cNvPr id="161" name="Google Shape;161;p1"/>
          <p:cNvSpPr/>
          <p:nvPr/>
        </p:nvSpPr>
        <p:spPr>
          <a:xfrm>
            <a:off x="7723368" y="5058211"/>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A23086 - Nguyễn Văn Đẳng</a:t>
            </a:r>
            <a:endParaRPr i="0" sz="1800" u="none" cap="none" strike="noStrike">
              <a:solidFill>
                <a:schemeClr val="dk1"/>
              </a:solidFill>
              <a:latin typeface="Times New Roman"/>
              <a:ea typeface="Times New Roman"/>
              <a:cs typeface="Times New Roman"/>
              <a:sym typeface="Times New Roman"/>
            </a:endParaRPr>
          </a:p>
        </p:txBody>
      </p:sp>
      <p:sp>
        <p:nvSpPr>
          <p:cNvPr id="162" name="Google Shape;162;p1"/>
          <p:cNvSpPr/>
          <p:nvPr/>
        </p:nvSpPr>
        <p:spPr>
          <a:xfrm>
            <a:off x="7723368" y="5327144"/>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A23088 - Trần Minh Quý</a:t>
            </a:r>
            <a:endParaRPr i="0" sz="1800" u="none" cap="none" strike="noStrike">
              <a:solidFill>
                <a:schemeClr val="dk1"/>
              </a:solidFill>
              <a:latin typeface="Times New Roman"/>
              <a:ea typeface="Times New Roman"/>
              <a:cs typeface="Times New Roman"/>
              <a:sym typeface="Times New Roman"/>
            </a:endParaRPr>
          </a:p>
        </p:txBody>
      </p:sp>
      <p:sp>
        <p:nvSpPr>
          <p:cNvPr id="163" name="Google Shape;163;p1"/>
          <p:cNvSpPr/>
          <p:nvPr/>
        </p:nvSpPr>
        <p:spPr>
          <a:xfrm>
            <a:off x="7739433" y="5579783"/>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A23141 - Trần Bảo Toàn</a:t>
            </a:r>
            <a:endParaRPr i="0" sz="1800" u="none" cap="none" strike="noStrike">
              <a:solidFill>
                <a:schemeClr val="dk1"/>
              </a:solidFill>
              <a:latin typeface="Times New Roman"/>
              <a:ea typeface="Times New Roman"/>
              <a:cs typeface="Times New Roman"/>
              <a:sym typeface="Times New Roman"/>
            </a:endParaRPr>
          </a:p>
        </p:txBody>
      </p:sp>
      <p:sp>
        <p:nvSpPr>
          <p:cNvPr id="164" name="Google Shape;164;p1"/>
          <p:cNvSpPr/>
          <p:nvPr/>
        </p:nvSpPr>
        <p:spPr>
          <a:xfrm>
            <a:off x="7723368" y="5848716"/>
            <a:ext cx="4354412" cy="20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1800"/>
              <a:buFont typeface="Times New Roman"/>
              <a:buNone/>
            </a:pPr>
            <a:r>
              <a:rPr i="0" lang="en-US" sz="1800" u="none" cap="none" strike="noStrike">
                <a:solidFill>
                  <a:srgbClr val="3C3939"/>
                </a:solidFill>
                <a:latin typeface="Times New Roman"/>
                <a:ea typeface="Times New Roman"/>
                <a:cs typeface="Times New Roman"/>
                <a:sym typeface="Times New Roman"/>
              </a:rPr>
              <a:t>A23144 - Trương Văn Lâm</a:t>
            </a:r>
            <a:endParaRPr i="0" sz="18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3400">
        <p14:reveal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2"/>
          <p:cNvSpPr txBox="1"/>
          <p:nvPr>
            <p:ph type="title"/>
          </p:nvPr>
        </p:nvSpPr>
        <p:spPr>
          <a:xfrm>
            <a:off x="1625333" y="650971"/>
            <a:ext cx="8959893" cy="60224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B1B27"/>
              </a:buClr>
              <a:buSzPts val="3200"/>
              <a:buFont typeface="Times New Roman"/>
              <a:buNone/>
            </a:pPr>
            <a:r>
              <a:rPr b="0" i="0" lang="en-US" sz="3200" u="none" cap="none" strike="noStrike">
                <a:solidFill>
                  <a:srgbClr val="1B1B27"/>
                </a:solidFill>
                <a:latin typeface="Times New Roman"/>
                <a:ea typeface="Times New Roman"/>
                <a:cs typeface="Times New Roman"/>
                <a:sym typeface="Times New Roman"/>
              </a:rPr>
              <a:t>Lời Cảm Ơn Chân Thành</a:t>
            </a:r>
            <a:endParaRPr sz="3200">
              <a:solidFill>
                <a:srgbClr val="595959"/>
              </a:solidFill>
              <a:latin typeface="Times New Roman"/>
              <a:ea typeface="Times New Roman"/>
              <a:cs typeface="Times New Roman"/>
              <a:sym typeface="Times New Roman"/>
            </a:endParaRPr>
          </a:p>
        </p:txBody>
      </p:sp>
      <p:sp>
        <p:nvSpPr>
          <p:cNvPr id="170" name="Google Shape;170;p2"/>
          <p:cNvSpPr txBox="1"/>
          <p:nvPr>
            <p:ph idx="1" type="body"/>
          </p:nvPr>
        </p:nvSpPr>
        <p:spPr>
          <a:xfrm>
            <a:off x="784346" y="1367552"/>
            <a:ext cx="10641869" cy="390536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80"/>
              <a:buNone/>
            </a:pPr>
            <a:r>
              <a:rPr b="0" i="0" lang="en-US" sz="1600" u="none" cap="none" strike="noStrike">
                <a:solidFill>
                  <a:srgbClr val="3C3939"/>
                </a:solidFill>
                <a:latin typeface="Times New Roman"/>
                <a:ea typeface="Times New Roman"/>
                <a:cs typeface="Times New Roman"/>
                <a:sym typeface="Times New Roman"/>
              </a:rPr>
              <a:t>Trong suốt thời gian thực tập và thực hiện dự án tại Trung Tâm Công Nghệ Phần Mềm – Đại Học Cần Thơ (CUSC), nhóm chúng em đã có cơ hội tiếp cận môi trường làm việc thực tế, rèn luyện kỹ năng làm việc nhóm và áp dụng những kiến thức đã học vào tình huống thực tế. Đây là giai đoạn vô cùng quan trọng giúp chúng em nâng cao chuyên môn, tích lũy kinh nghiệm, và hiểu rõ hơn quy trình làm việc trong doanh nghiệp.</a:t>
            </a:r>
            <a:endParaRPr b="0" i="0" sz="1600" u="none" cap="none" strike="noStrike">
              <a:solidFill>
                <a:srgbClr val="3C3939"/>
              </a:solidFill>
              <a:latin typeface="Times New Roman"/>
              <a:ea typeface="Times New Roman"/>
              <a:cs typeface="Times New Roman"/>
              <a:sym typeface="Times New Roman"/>
            </a:endParaRPr>
          </a:p>
        </p:txBody>
      </p:sp>
      <p:sp>
        <p:nvSpPr>
          <p:cNvPr id="171" name="Google Shape;171;p2"/>
          <p:cNvSpPr/>
          <p:nvPr/>
        </p:nvSpPr>
        <p:spPr>
          <a:xfrm>
            <a:off x="762000" y="2461813"/>
            <a:ext cx="4916905" cy="1357850"/>
          </a:xfrm>
          <a:prstGeom prst="roundRect">
            <a:avLst>
              <a:gd fmla="val 3740" name="adj"/>
            </a:avLst>
          </a:prstGeom>
          <a:solidFill>
            <a:srgbClr val="FFFFFF">
              <a:alpha val="94509"/>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US" sz="1600">
                <a:solidFill>
                  <a:srgbClr val="3C3939"/>
                </a:solidFill>
                <a:latin typeface="Times New Roman"/>
                <a:ea typeface="Times New Roman"/>
                <a:cs typeface="Times New Roman"/>
                <a:sym typeface="Times New Roman"/>
              </a:rPr>
              <a:t>Nhóm xin chân thành gửi lời cảm ơn đến Ban Lãnh đạo và toàn thể anh/chị tại CUSC đã tận tình hướng dẫn, hỗ trợ nhóm chúng em trong suốt quá trình thực tập. Nhờ sự chỉ dẫn tận tâm, nhóm chúng em đã hoàn thiện kỹ năng hợp tác, phân chia nhiệm vụ và giải quyết vấn đề.</a:t>
            </a:r>
            <a:endParaRPr sz="1600">
              <a:solidFill>
                <a:schemeClr val="dk1"/>
              </a:solidFill>
              <a:latin typeface="Times New Roman"/>
              <a:ea typeface="Times New Roman"/>
              <a:cs typeface="Times New Roman"/>
              <a:sym typeface="Times New Roman"/>
            </a:endParaRPr>
          </a:p>
        </p:txBody>
      </p:sp>
      <p:sp>
        <p:nvSpPr>
          <p:cNvPr id="172" name="Google Shape;172;p2"/>
          <p:cNvSpPr/>
          <p:nvPr/>
        </p:nvSpPr>
        <p:spPr>
          <a:xfrm>
            <a:off x="6094107" y="2461813"/>
            <a:ext cx="5313547" cy="1357850"/>
          </a:xfrm>
          <a:prstGeom prst="roundRect">
            <a:avLst>
              <a:gd fmla="val 3740" name="adj"/>
            </a:avLst>
          </a:prstGeom>
          <a:solidFill>
            <a:srgbClr val="FFFFFF">
              <a:alpha val="94509"/>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lang="en-US" sz="1600">
                <a:solidFill>
                  <a:srgbClr val="3C3939"/>
                </a:solidFill>
                <a:latin typeface="Times New Roman"/>
                <a:ea typeface="Times New Roman"/>
                <a:cs typeface="Times New Roman"/>
                <a:sym typeface="Times New Roman"/>
              </a:rPr>
              <a:t>Nhóm cũng xin bày tỏ lòng biết ơn sâu sắc đến Quý Thầy/Cô tại CUSC, đặc biệt là Cô Lê Thị Minh Loan, người đã luôn theo sát, góp ý chân thành và hỗ trợ nhóm trong quá trình xây dựng và hoàn thiện dự án.</a:t>
            </a:r>
            <a:endParaRPr sz="1600">
              <a:solidFill>
                <a:schemeClr val="dk1"/>
              </a:solidFill>
              <a:latin typeface="Times New Roman"/>
              <a:ea typeface="Times New Roman"/>
              <a:cs typeface="Times New Roman"/>
              <a:sym typeface="Times New Roman"/>
            </a:endParaRPr>
          </a:p>
        </p:txBody>
      </p:sp>
      <p:sp>
        <p:nvSpPr>
          <p:cNvPr id="173" name="Google Shape;173;p2"/>
          <p:cNvSpPr txBox="1"/>
          <p:nvPr/>
        </p:nvSpPr>
        <p:spPr>
          <a:xfrm>
            <a:off x="762000" y="3837100"/>
            <a:ext cx="10664216" cy="1230530"/>
          </a:xfrm>
          <a:prstGeom prst="rect">
            <a:avLst/>
          </a:prstGeom>
          <a:noFill/>
          <a:ln>
            <a:noFill/>
          </a:ln>
        </p:spPr>
        <p:txBody>
          <a:bodyPr anchorCtr="0" anchor="t" bIns="45700" lIns="91425" spcFirstLastPara="1" rIns="91425" wrap="square" tIns="45700">
            <a:spAutoFit/>
          </a:bodyPr>
          <a:lstStyle/>
          <a:p>
            <a:pPr indent="0" lvl="0" marL="0" marR="0" rtl="0" algn="l">
              <a:lnSpc>
                <a:spcPct val="161290"/>
              </a:lnSpc>
              <a:spcBef>
                <a:spcPts val="0"/>
              </a:spcBef>
              <a:spcAft>
                <a:spcPts val="0"/>
              </a:spcAft>
              <a:buClr>
                <a:srgbClr val="3C3939"/>
              </a:buClr>
              <a:buSzPts val="1550"/>
              <a:buFont typeface="Roboto"/>
              <a:buNone/>
            </a:pPr>
            <a:r>
              <a:rPr b="0" i="0" lang="en-US" sz="1600" u="none" cap="none" strike="noStrike">
                <a:solidFill>
                  <a:srgbClr val="3C3939"/>
                </a:solidFill>
                <a:latin typeface="Times New Roman"/>
                <a:ea typeface="Times New Roman"/>
                <a:cs typeface="Times New Roman"/>
                <a:sym typeface="Times New Roman"/>
              </a:rPr>
              <a:t>Mặc dù cả nhóm đã nỗ lực hoàn thành báo cáo thực tập với tinh thần nghiêm túc và trách nhiệm, nhưng vì giới hạn thời gian và kinh nghiệm thực tế còn hạn chế nên khó tránh khỏi những thiếu sót. Nhóm rất mong nhận được những ý kiến đóng góp từ Quý Thầy/Cô và anh/chị để có thể hoàn thiện tốt hơn trong tương lai.</a:t>
            </a:r>
            <a:endParaRPr b="0" i="0" sz="1600" u="none" cap="none" strike="noStrike">
              <a:solidFill>
                <a:schemeClr val="dk1"/>
              </a:solidFill>
              <a:latin typeface="Times New Roman"/>
              <a:ea typeface="Times New Roman"/>
              <a:cs typeface="Times New Roman"/>
              <a:sym typeface="Times New Roman"/>
            </a:endParaRPr>
          </a:p>
        </p:txBody>
      </p:sp>
      <p:sp>
        <p:nvSpPr>
          <p:cNvPr id="174" name="Google Shape;174;p2"/>
          <p:cNvSpPr txBox="1"/>
          <p:nvPr/>
        </p:nvSpPr>
        <p:spPr>
          <a:xfrm>
            <a:off x="762000" y="5094648"/>
            <a:ext cx="6097002" cy="483530"/>
          </a:xfrm>
          <a:prstGeom prst="rect">
            <a:avLst/>
          </a:prstGeom>
          <a:noFill/>
          <a:ln>
            <a:noFill/>
          </a:ln>
        </p:spPr>
        <p:txBody>
          <a:bodyPr anchorCtr="0" anchor="t" bIns="45700" lIns="91425" spcFirstLastPara="1" rIns="91425" wrap="square" tIns="45700">
            <a:spAutoFit/>
          </a:bodyPr>
          <a:lstStyle/>
          <a:p>
            <a:pPr indent="0" lvl="0" marL="0" marR="0" rtl="0" algn="l">
              <a:lnSpc>
                <a:spcPct val="161290"/>
              </a:lnSpc>
              <a:spcBef>
                <a:spcPts val="0"/>
              </a:spcBef>
              <a:spcAft>
                <a:spcPts val="0"/>
              </a:spcAft>
              <a:buClr>
                <a:srgbClr val="3C3939"/>
              </a:buClr>
              <a:buSzPts val="1550"/>
              <a:buFont typeface="Roboto"/>
              <a:buNone/>
            </a:pPr>
            <a:r>
              <a:rPr b="1" i="0" lang="en-US" sz="1800" u="none" cap="none" strike="noStrike">
                <a:solidFill>
                  <a:srgbClr val="3C3939"/>
                </a:solidFill>
                <a:latin typeface="Times New Roman"/>
                <a:ea typeface="Times New Roman"/>
                <a:cs typeface="Times New Roman"/>
                <a:sym typeface="Times New Roman"/>
              </a:rPr>
              <a:t>Cần Thơ, ngày … tháng … năm 2025</a:t>
            </a:r>
            <a:endParaRPr b="0" i="0" sz="1800" u="none" cap="none" strike="noStrike">
              <a:solidFill>
                <a:schemeClr val="dk1"/>
              </a:solidFill>
              <a:latin typeface="Times New Roman"/>
              <a:ea typeface="Times New Roman"/>
              <a:cs typeface="Times New Roman"/>
              <a:sym typeface="Times New Roman"/>
            </a:endParaRPr>
          </a:p>
        </p:txBody>
      </p:sp>
      <p:sp>
        <p:nvSpPr>
          <p:cNvPr id="175" name="Google Shape;175;p2"/>
          <p:cNvSpPr txBox="1"/>
          <p:nvPr/>
        </p:nvSpPr>
        <p:spPr>
          <a:xfrm>
            <a:off x="784346" y="5541703"/>
            <a:ext cx="10664216" cy="834139"/>
          </a:xfrm>
          <a:prstGeom prst="rect">
            <a:avLst/>
          </a:prstGeom>
          <a:noFill/>
          <a:ln>
            <a:noFill/>
          </a:ln>
        </p:spPr>
        <p:txBody>
          <a:bodyPr anchorCtr="0" anchor="t" bIns="45700" lIns="91425" spcFirstLastPara="1" rIns="91425" wrap="square" tIns="45700">
            <a:spAutoFit/>
          </a:bodyPr>
          <a:lstStyle/>
          <a:p>
            <a:pPr indent="0" lvl="0" marL="0" marR="0" rtl="0" algn="l">
              <a:lnSpc>
                <a:spcPct val="161290"/>
              </a:lnSpc>
              <a:spcBef>
                <a:spcPts val="0"/>
              </a:spcBef>
              <a:spcAft>
                <a:spcPts val="0"/>
              </a:spcAft>
              <a:buClr>
                <a:srgbClr val="3C3939"/>
              </a:buClr>
              <a:buSzPts val="1550"/>
              <a:buFont typeface="Roboto"/>
              <a:buNone/>
            </a:pPr>
            <a:r>
              <a:rPr b="1" i="0" lang="en-US" sz="1600" u="none" cap="none" strike="noStrike">
                <a:solidFill>
                  <a:srgbClr val="3C3939"/>
                </a:solidFill>
                <a:latin typeface="Times New Roman"/>
                <a:ea typeface="Times New Roman"/>
                <a:cs typeface="Times New Roman"/>
                <a:sym typeface="Times New Roman"/>
              </a:rPr>
              <a:t>Sinh viên thực hiện:</a:t>
            </a:r>
            <a:r>
              <a:rPr b="0" i="0" lang="en-US" sz="1600" u="none" cap="none" strike="noStrike">
                <a:solidFill>
                  <a:srgbClr val="3C3939"/>
                </a:solidFill>
                <a:latin typeface="Times New Roman"/>
                <a:ea typeface="Times New Roman"/>
                <a:cs typeface="Times New Roman"/>
                <a:sym typeface="Times New Roman"/>
              </a:rPr>
              <a:t> Phạm Tấn Bo, Phạm Nhựt Gia Huy, Nguyễn Sỉ Minh Nhật, Nguyễn Văn Đẳng, Trần Minh Quý, Trần Bảo Toàn, Trương Văn Lâm</a:t>
            </a:r>
            <a:r>
              <a:rPr lang="en-US" sz="1600">
                <a:solidFill>
                  <a:srgbClr val="3C3939"/>
                </a:solidFill>
                <a:latin typeface="Times New Roman"/>
                <a:ea typeface="Times New Roman"/>
                <a:cs typeface="Times New Roman"/>
                <a:sym typeface="Times New Roman"/>
              </a:rPr>
              <a:t> </a:t>
            </a:r>
            <a:r>
              <a:rPr b="0" i="0" lang="en-US" sz="1600" u="none" cap="none" strike="noStrike">
                <a:solidFill>
                  <a:srgbClr val="3C3939"/>
                </a:solidFill>
                <a:latin typeface="Times New Roman"/>
                <a:ea typeface="Times New Roman"/>
                <a:cs typeface="Times New Roman"/>
                <a:sym typeface="Times New Roman"/>
              </a:rPr>
              <a:t>.</a:t>
            </a:r>
            <a:endParaRPr b="0"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
          <p:cNvSpPr/>
          <p:nvPr/>
        </p:nvSpPr>
        <p:spPr>
          <a:xfrm>
            <a:off x="884090" y="175438"/>
            <a:ext cx="10602458" cy="561975"/>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1B1B27"/>
              </a:buClr>
              <a:buSzPts val="3500"/>
              <a:buFont typeface="Raleway"/>
              <a:buNone/>
            </a:pPr>
            <a:r>
              <a:rPr b="0" i="0" lang="en-US" sz="3200" u="none" cap="none" strike="noStrike">
                <a:solidFill>
                  <a:srgbClr val="1B1B27"/>
                </a:solidFill>
                <a:latin typeface="Times New Roman"/>
                <a:ea typeface="Times New Roman"/>
                <a:cs typeface="Times New Roman"/>
                <a:sym typeface="Times New Roman"/>
              </a:rPr>
              <a:t>Định Nghĩa Dự Án: Hệ Thống Quản Lý Minh Chứng Giảng Dạy</a:t>
            </a:r>
            <a:endParaRPr b="0" i="0" sz="3200" u="none" cap="none" strike="noStrike">
              <a:solidFill>
                <a:schemeClr val="dk1"/>
              </a:solidFill>
              <a:latin typeface="Times New Roman"/>
              <a:ea typeface="Times New Roman"/>
              <a:cs typeface="Times New Roman"/>
              <a:sym typeface="Times New Roman"/>
            </a:endParaRPr>
          </a:p>
        </p:txBody>
      </p:sp>
      <p:sp>
        <p:nvSpPr>
          <p:cNvPr id="181" name="Google Shape;181;p3"/>
          <p:cNvSpPr/>
          <p:nvPr/>
        </p:nvSpPr>
        <p:spPr>
          <a:xfrm>
            <a:off x="180473" y="1190970"/>
            <a:ext cx="11893229" cy="109865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Dự án được xây dựng nhằm phát triển Hệ thống Quản lý Minh chứng và Hồ sơ Giảng dạy cho các khoa, bộ môn và phòng ban trong Trường Đại học Cần Thơ. Nội dung chính của dự án là số hóa toàn bộ quy trình thu thập, lưu trữ, phân loại, tra cứu và thống kê các loại minh chứng phục vụ kiểm định chất lượng, báo cáo đào tạo và đánh giá năng lực giảng viên.</a:t>
            </a:r>
            <a:endParaRPr b="0" i="0" sz="1400" u="none" cap="none" strike="noStrike">
              <a:solidFill>
                <a:schemeClr val="dk1"/>
              </a:solidFill>
              <a:latin typeface="Times New Roman"/>
              <a:ea typeface="Times New Roman"/>
              <a:cs typeface="Times New Roman"/>
              <a:sym typeface="Times New Roman"/>
            </a:endParaRPr>
          </a:p>
        </p:txBody>
      </p:sp>
      <p:sp>
        <p:nvSpPr>
          <p:cNvPr id="182" name="Google Shape;182;p3"/>
          <p:cNvSpPr/>
          <p:nvPr/>
        </p:nvSpPr>
        <p:spPr>
          <a:xfrm>
            <a:off x="180475" y="2465309"/>
            <a:ext cx="5819136" cy="1657112"/>
          </a:xfrm>
          <a:prstGeom prst="roundRect">
            <a:avLst>
              <a:gd fmla="val 6622" name="adj"/>
            </a:avLst>
          </a:prstGeom>
          <a:solidFill>
            <a:srgbClr val="FFFFFF">
              <a:alpha val="94509"/>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183" name="Google Shape;183;p3"/>
          <p:cNvSpPr/>
          <p:nvPr/>
        </p:nvSpPr>
        <p:spPr>
          <a:xfrm>
            <a:off x="180473" y="2450425"/>
            <a:ext cx="91440" cy="1657112"/>
          </a:xfrm>
          <a:prstGeom prst="roundRect">
            <a:avLst>
              <a:gd fmla="val 82597"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184" name="Google Shape;184;p3"/>
          <p:cNvSpPr/>
          <p:nvPr/>
        </p:nvSpPr>
        <p:spPr>
          <a:xfrm>
            <a:off x="418495" y="2587278"/>
            <a:ext cx="2247781" cy="2809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Times New Roman"/>
                <a:ea typeface="Times New Roman"/>
                <a:cs typeface="Times New Roman"/>
                <a:sym typeface="Times New Roman"/>
              </a:rPr>
              <a:t>Vấn đề hiện tại</a:t>
            </a:r>
            <a:endParaRPr b="0" i="0" sz="1750" u="none" cap="none" strike="noStrike">
              <a:solidFill>
                <a:schemeClr val="dk1"/>
              </a:solidFill>
              <a:latin typeface="Times New Roman"/>
              <a:ea typeface="Times New Roman"/>
              <a:cs typeface="Times New Roman"/>
              <a:sym typeface="Times New Roman"/>
            </a:endParaRPr>
          </a:p>
        </p:txBody>
      </p:sp>
      <p:sp>
        <p:nvSpPr>
          <p:cNvPr id="185" name="Google Shape;185;p3"/>
          <p:cNvSpPr/>
          <p:nvPr/>
        </p:nvSpPr>
        <p:spPr>
          <a:xfrm>
            <a:off x="417407" y="2929117"/>
            <a:ext cx="5490763" cy="86296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Số lượng minh chứng lớn, đa dạng, nhiều phiên bản và khó kiểm soát khi làm thủ công. Các đơn vị gặp khó khăn trong việc tổng hợp báo cáo minh chứng chính xác, đầy đủ và kịp thời.</a:t>
            </a:r>
            <a:endParaRPr b="0" i="0" sz="1400" u="none" cap="none" strike="noStrike">
              <a:solidFill>
                <a:schemeClr val="dk1"/>
              </a:solidFill>
              <a:latin typeface="Times New Roman"/>
              <a:ea typeface="Times New Roman"/>
              <a:cs typeface="Times New Roman"/>
              <a:sym typeface="Times New Roman"/>
            </a:endParaRPr>
          </a:p>
        </p:txBody>
      </p:sp>
      <p:sp>
        <p:nvSpPr>
          <p:cNvPr id="186" name="Google Shape;186;p3"/>
          <p:cNvSpPr/>
          <p:nvPr/>
        </p:nvSpPr>
        <p:spPr>
          <a:xfrm>
            <a:off x="6593850" y="2448364"/>
            <a:ext cx="5383889" cy="1657112"/>
          </a:xfrm>
          <a:prstGeom prst="roundRect">
            <a:avLst>
              <a:gd fmla="val 6622" name="adj"/>
            </a:avLst>
          </a:prstGeom>
          <a:solidFill>
            <a:srgbClr val="FFFFFF">
              <a:alpha val="94509"/>
            </a:srgbClr>
          </a:solidFill>
          <a:ln cap="flat" cmpd="sng" w="22850">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187" name="Google Shape;187;p3"/>
          <p:cNvSpPr/>
          <p:nvPr/>
        </p:nvSpPr>
        <p:spPr>
          <a:xfrm>
            <a:off x="6593851" y="2448364"/>
            <a:ext cx="91440" cy="1657112"/>
          </a:xfrm>
          <a:prstGeom prst="roundRect">
            <a:avLst>
              <a:gd fmla="val 82597"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188" name="Google Shape;188;p3"/>
          <p:cNvSpPr/>
          <p:nvPr/>
        </p:nvSpPr>
        <p:spPr>
          <a:xfrm>
            <a:off x="6829552" y="2556084"/>
            <a:ext cx="2247781" cy="2809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Times New Roman"/>
                <a:ea typeface="Times New Roman"/>
                <a:cs typeface="Times New Roman"/>
                <a:sym typeface="Times New Roman"/>
              </a:rPr>
              <a:t>Giải pháp</a:t>
            </a:r>
            <a:endParaRPr b="0" i="0" sz="1750" u="none" cap="none" strike="noStrike">
              <a:solidFill>
                <a:schemeClr val="dk1"/>
              </a:solidFill>
              <a:latin typeface="Times New Roman"/>
              <a:ea typeface="Times New Roman"/>
              <a:cs typeface="Times New Roman"/>
              <a:sym typeface="Times New Roman"/>
            </a:endParaRPr>
          </a:p>
        </p:txBody>
      </p:sp>
      <p:sp>
        <p:nvSpPr>
          <p:cNvPr id="189" name="Google Shape;189;p3"/>
          <p:cNvSpPr/>
          <p:nvPr/>
        </p:nvSpPr>
        <p:spPr>
          <a:xfrm>
            <a:off x="6829551" y="2862382"/>
            <a:ext cx="5148187" cy="86296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Xây dựng một hệ thống phần mềm chuyên nghiệp giúp tăng hiệu suất làm việc, giảm sai sót, nâng cao chất lượng quản lý, đồng thời hiện đại hóa quy trình hành chính theo hướng chuyển đổi số.</a:t>
            </a:r>
            <a:endParaRPr b="0" i="0" sz="1400" u="none" cap="none" strike="noStrike">
              <a:solidFill>
                <a:schemeClr val="dk1"/>
              </a:solidFill>
              <a:latin typeface="Times New Roman"/>
              <a:ea typeface="Times New Roman"/>
              <a:cs typeface="Times New Roman"/>
              <a:sym typeface="Times New Roman"/>
            </a:endParaRPr>
          </a:p>
        </p:txBody>
      </p:sp>
      <p:sp>
        <p:nvSpPr>
          <p:cNvPr id="190" name="Google Shape;190;p3"/>
          <p:cNvSpPr/>
          <p:nvPr/>
        </p:nvSpPr>
        <p:spPr>
          <a:xfrm>
            <a:off x="180473" y="4292880"/>
            <a:ext cx="8622541" cy="287655"/>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Hệ thống được thiết kế với mô hình phân quyền rõ ràng để đảm bảo quản lý hiệu quả và bảo mật thông tin.</a:t>
            </a:r>
            <a:endParaRPr b="0" i="0" sz="1400" u="none" cap="none" strike="noStrike">
              <a:solidFill>
                <a:schemeClr val="dk1"/>
              </a:solidFill>
              <a:latin typeface="Times New Roman"/>
              <a:ea typeface="Times New Roman"/>
              <a:cs typeface="Times New Roman"/>
              <a:sym typeface="Times New Roman"/>
            </a:endParaRPr>
          </a:p>
        </p:txBody>
      </p:sp>
      <p:sp>
        <p:nvSpPr>
          <p:cNvPr id="191" name="Google Shape;191;p3"/>
          <p:cNvSpPr/>
          <p:nvPr/>
        </p:nvSpPr>
        <p:spPr>
          <a:xfrm>
            <a:off x="271913" y="4750994"/>
            <a:ext cx="3902632" cy="1722836"/>
          </a:xfrm>
          <a:prstGeom prst="roundRect">
            <a:avLst>
              <a:gd fmla="val 3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192" name="Google Shape;192;p3"/>
          <p:cNvSpPr/>
          <p:nvPr/>
        </p:nvSpPr>
        <p:spPr>
          <a:xfrm>
            <a:off x="271913" y="4753034"/>
            <a:ext cx="539472" cy="539472"/>
          </a:xfrm>
          <a:prstGeom prst="roundRect">
            <a:avLst>
              <a:gd fmla="val 16948212"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pic>
        <p:nvPicPr>
          <p:cNvPr descr="preencoded.png" id="193" name="Google Shape;193;p3"/>
          <p:cNvPicPr preferRelativeResize="0"/>
          <p:nvPr/>
        </p:nvPicPr>
        <p:blipFill rotWithShape="1">
          <a:blip r:embed="rId3">
            <a:alphaModFix/>
          </a:blip>
          <a:srcRect b="0" l="0" r="0" t="0"/>
          <a:stretch/>
        </p:blipFill>
        <p:spPr>
          <a:xfrm>
            <a:off x="417407" y="4901446"/>
            <a:ext cx="242649" cy="242649"/>
          </a:xfrm>
          <a:prstGeom prst="rect">
            <a:avLst/>
          </a:prstGeom>
          <a:noFill/>
          <a:ln>
            <a:noFill/>
          </a:ln>
        </p:spPr>
      </p:pic>
      <p:sp>
        <p:nvSpPr>
          <p:cNvPr id="194" name="Google Shape;194;p3"/>
          <p:cNvSpPr/>
          <p:nvPr/>
        </p:nvSpPr>
        <p:spPr>
          <a:xfrm>
            <a:off x="418495" y="5370477"/>
            <a:ext cx="2247781" cy="2809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i="0" lang="en-US" sz="1750" u="none" cap="none" strike="noStrike">
                <a:solidFill>
                  <a:srgbClr val="3C3939"/>
                </a:solidFill>
                <a:latin typeface="Times New Roman"/>
                <a:ea typeface="Times New Roman"/>
                <a:cs typeface="Times New Roman"/>
                <a:sym typeface="Times New Roman"/>
              </a:rPr>
              <a:t>Vai trò Admin</a:t>
            </a:r>
            <a:endParaRPr b="1" i="0" sz="1750" u="none" cap="none" strike="noStrike">
              <a:solidFill>
                <a:schemeClr val="dk1"/>
              </a:solidFill>
              <a:latin typeface="Times New Roman"/>
              <a:ea typeface="Times New Roman"/>
              <a:cs typeface="Times New Roman"/>
              <a:sym typeface="Times New Roman"/>
            </a:endParaRPr>
          </a:p>
        </p:txBody>
      </p:sp>
      <p:sp>
        <p:nvSpPr>
          <p:cNvPr id="195" name="Google Shape;195;p3"/>
          <p:cNvSpPr/>
          <p:nvPr/>
        </p:nvSpPr>
        <p:spPr>
          <a:xfrm>
            <a:off x="417408" y="5654340"/>
            <a:ext cx="3757138" cy="57531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Tạo đơn vị, phân quyền người dùng, thiết lập danh mục minh chứng và cấu hình hệ thống.</a:t>
            </a:r>
            <a:endParaRPr b="0" i="0" sz="1400" u="none" cap="none" strike="noStrike">
              <a:solidFill>
                <a:schemeClr val="dk1"/>
              </a:solidFill>
              <a:latin typeface="Times New Roman"/>
              <a:ea typeface="Times New Roman"/>
              <a:cs typeface="Times New Roman"/>
              <a:sym typeface="Times New Roman"/>
            </a:endParaRPr>
          </a:p>
        </p:txBody>
      </p:sp>
      <p:sp>
        <p:nvSpPr>
          <p:cNvPr id="196" name="Google Shape;196;p3"/>
          <p:cNvSpPr/>
          <p:nvPr/>
        </p:nvSpPr>
        <p:spPr>
          <a:xfrm>
            <a:off x="4451322" y="4750995"/>
            <a:ext cx="4073553" cy="1722836"/>
          </a:xfrm>
          <a:prstGeom prst="roundRect">
            <a:avLst>
              <a:gd fmla="val 3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197" name="Google Shape;197;p3"/>
          <p:cNvSpPr/>
          <p:nvPr/>
        </p:nvSpPr>
        <p:spPr>
          <a:xfrm>
            <a:off x="4453991" y="4768690"/>
            <a:ext cx="539472" cy="539472"/>
          </a:xfrm>
          <a:prstGeom prst="roundRect">
            <a:avLst>
              <a:gd fmla="val 16948212"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pic>
        <p:nvPicPr>
          <p:cNvPr descr="preencoded.png" id="198" name="Google Shape;198;p3"/>
          <p:cNvPicPr preferRelativeResize="0"/>
          <p:nvPr/>
        </p:nvPicPr>
        <p:blipFill rotWithShape="1">
          <a:blip r:embed="rId3">
            <a:alphaModFix/>
          </a:blip>
          <a:srcRect b="0" l="0" r="0" t="0"/>
          <a:stretch/>
        </p:blipFill>
        <p:spPr>
          <a:xfrm>
            <a:off x="4602402" y="4917101"/>
            <a:ext cx="242649" cy="242649"/>
          </a:xfrm>
          <a:prstGeom prst="rect">
            <a:avLst/>
          </a:prstGeom>
          <a:noFill/>
          <a:ln>
            <a:noFill/>
          </a:ln>
        </p:spPr>
      </p:pic>
      <p:sp>
        <p:nvSpPr>
          <p:cNvPr id="199" name="Google Shape;199;p3"/>
          <p:cNvSpPr/>
          <p:nvPr/>
        </p:nvSpPr>
        <p:spPr>
          <a:xfrm>
            <a:off x="4602402" y="5345860"/>
            <a:ext cx="2267426" cy="2809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i="0" lang="en-US" sz="1750" u="none" cap="none" strike="noStrike">
                <a:solidFill>
                  <a:srgbClr val="3C3939"/>
                </a:solidFill>
                <a:latin typeface="Times New Roman"/>
                <a:ea typeface="Times New Roman"/>
                <a:cs typeface="Times New Roman"/>
                <a:sym typeface="Times New Roman"/>
              </a:rPr>
              <a:t>Vai trò Cán bộ quản lý</a:t>
            </a:r>
            <a:endParaRPr b="1" i="0" sz="1750" u="none" cap="none" strike="noStrike">
              <a:solidFill>
                <a:schemeClr val="dk1"/>
              </a:solidFill>
              <a:latin typeface="Times New Roman"/>
              <a:ea typeface="Times New Roman"/>
              <a:cs typeface="Times New Roman"/>
              <a:sym typeface="Times New Roman"/>
            </a:endParaRPr>
          </a:p>
        </p:txBody>
      </p:sp>
      <p:sp>
        <p:nvSpPr>
          <p:cNvPr id="200" name="Google Shape;200;p3"/>
          <p:cNvSpPr/>
          <p:nvPr/>
        </p:nvSpPr>
        <p:spPr>
          <a:xfrm>
            <a:off x="4622244" y="5612412"/>
            <a:ext cx="3902631" cy="57531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Duyệt minh chứng, kiểm tra tính hợp lệ, theo dõi tiến độ nộp và xuất báo cáo.</a:t>
            </a:r>
            <a:endParaRPr b="0" i="0" sz="1400" u="none" cap="none" strike="noStrike">
              <a:solidFill>
                <a:schemeClr val="dk1"/>
              </a:solidFill>
              <a:latin typeface="Times New Roman"/>
              <a:ea typeface="Times New Roman"/>
              <a:cs typeface="Times New Roman"/>
              <a:sym typeface="Times New Roman"/>
            </a:endParaRPr>
          </a:p>
        </p:txBody>
      </p:sp>
      <p:sp>
        <p:nvSpPr>
          <p:cNvPr id="201" name="Google Shape;201;p3"/>
          <p:cNvSpPr/>
          <p:nvPr/>
        </p:nvSpPr>
        <p:spPr>
          <a:xfrm>
            <a:off x="8798645" y="4750993"/>
            <a:ext cx="3176087" cy="1722837"/>
          </a:xfrm>
          <a:prstGeom prst="roundRect">
            <a:avLst>
              <a:gd fmla="val 3670"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02" name="Google Shape;202;p3"/>
          <p:cNvSpPr/>
          <p:nvPr/>
        </p:nvSpPr>
        <p:spPr>
          <a:xfrm>
            <a:off x="8807597" y="4838759"/>
            <a:ext cx="539472" cy="539472"/>
          </a:xfrm>
          <a:prstGeom prst="roundRect">
            <a:avLst>
              <a:gd fmla="val 16948212"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pic>
        <p:nvPicPr>
          <p:cNvPr descr="preencoded.png" id="203" name="Google Shape;203;p3"/>
          <p:cNvPicPr preferRelativeResize="0"/>
          <p:nvPr/>
        </p:nvPicPr>
        <p:blipFill rotWithShape="1">
          <a:blip r:embed="rId3">
            <a:alphaModFix/>
          </a:blip>
          <a:srcRect b="0" l="0" r="0" t="0"/>
          <a:stretch/>
        </p:blipFill>
        <p:spPr>
          <a:xfrm>
            <a:off x="8956008" y="4987170"/>
            <a:ext cx="242649" cy="242649"/>
          </a:xfrm>
          <a:prstGeom prst="rect">
            <a:avLst/>
          </a:prstGeom>
          <a:noFill/>
          <a:ln>
            <a:noFill/>
          </a:ln>
        </p:spPr>
      </p:pic>
      <p:sp>
        <p:nvSpPr>
          <p:cNvPr id="204" name="Google Shape;204;p3"/>
          <p:cNvSpPr/>
          <p:nvPr/>
        </p:nvSpPr>
        <p:spPr>
          <a:xfrm>
            <a:off x="8956008" y="5434169"/>
            <a:ext cx="2247781" cy="280988"/>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i="0" lang="en-US" sz="1750" u="none" cap="none" strike="noStrike">
                <a:solidFill>
                  <a:srgbClr val="3C3939"/>
                </a:solidFill>
                <a:latin typeface="Times New Roman"/>
                <a:ea typeface="Times New Roman"/>
                <a:cs typeface="Times New Roman"/>
                <a:sym typeface="Times New Roman"/>
              </a:rPr>
              <a:t>Vai trò Giảng viên</a:t>
            </a:r>
            <a:endParaRPr b="1" i="0" sz="1750" u="none" cap="none" strike="noStrike">
              <a:solidFill>
                <a:schemeClr val="dk1"/>
              </a:solidFill>
              <a:latin typeface="Times New Roman"/>
              <a:ea typeface="Times New Roman"/>
              <a:cs typeface="Times New Roman"/>
              <a:sym typeface="Times New Roman"/>
            </a:endParaRPr>
          </a:p>
        </p:txBody>
      </p:sp>
      <p:sp>
        <p:nvSpPr>
          <p:cNvPr id="205" name="Google Shape;205;p3"/>
          <p:cNvSpPr/>
          <p:nvPr/>
        </p:nvSpPr>
        <p:spPr>
          <a:xfrm>
            <a:off x="8956009" y="5715157"/>
            <a:ext cx="3021730" cy="57531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400" u="none" cap="none" strike="noStrike">
                <a:solidFill>
                  <a:srgbClr val="3C3939"/>
                </a:solidFill>
                <a:latin typeface="Times New Roman"/>
                <a:ea typeface="Times New Roman"/>
                <a:cs typeface="Times New Roman"/>
                <a:sym typeface="Times New Roman"/>
              </a:rPr>
              <a:t>Tải lên minh chứng, xem trạng thái phê duyệt và cập nhật thông tin.</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
          <p:cNvSpPr/>
          <p:nvPr/>
        </p:nvSpPr>
        <p:spPr>
          <a:xfrm>
            <a:off x="784975" y="72912"/>
            <a:ext cx="10407599" cy="62010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1B1B27"/>
              </a:buClr>
              <a:buSzPts val="3900"/>
              <a:buFont typeface="Raleway"/>
              <a:buNone/>
            </a:pPr>
            <a:r>
              <a:rPr b="0" i="0" lang="en-US" sz="3200" u="none" cap="none" strike="noStrike">
                <a:solidFill>
                  <a:srgbClr val="1B1B27"/>
                </a:solidFill>
                <a:latin typeface="Times New Roman"/>
                <a:ea typeface="Times New Roman"/>
                <a:cs typeface="Times New Roman"/>
                <a:sym typeface="Times New Roman"/>
              </a:rPr>
              <a:t>Chức Năng Chính &amp; Hiệu Quả Dự Án</a:t>
            </a:r>
            <a:endParaRPr b="0" i="0" sz="3200" u="none" cap="none" strike="noStrike">
              <a:solidFill>
                <a:schemeClr val="dk1"/>
              </a:solidFill>
              <a:latin typeface="Times New Roman"/>
              <a:ea typeface="Times New Roman"/>
              <a:cs typeface="Times New Roman"/>
              <a:sym typeface="Times New Roman"/>
            </a:endParaRPr>
          </a:p>
        </p:txBody>
      </p:sp>
      <p:sp>
        <p:nvSpPr>
          <p:cNvPr id="211" name="Google Shape;211;p4"/>
          <p:cNvSpPr/>
          <p:nvPr/>
        </p:nvSpPr>
        <p:spPr>
          <a:xfrm>
            <a:off x="793791" y="789955"/>
            <a:ext cx="11293435"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550" u="none" cap="none" strike="noStrike">
                <a:solidFill>
                  <a:srgbClr val="3C3939"/>
                </a:solidFill>
                <a:latin typeface="Times New Roman"/>
                <a:ea typeface="Times New Roman"/>
                <a:cs typeface="Times New Roman"/>
                <a:sym typeface="Times New Roman"/>
              </a:rPr>
              <a:t>Các chức năng chính của hệ thống bao gồm: quản lý danh mục minh chứng, quản lý hồ sơ theo năm học, tự động phân loại minh chứng, tìm kiếm và lọc nâng cao, thống kê tiến độ nộp theo từng đơn vị/giảng viên, export báo cáo Excel/PDF, và dashboard trực quan hỗ trợ theo dõi tổng quan.</a:t>
            </a:r>
            <a:endParaRPr b="0" i="0" sz="1550" u="none" cap="none" strike="noStrike">
              <a:solidFill>
                <a:schemeClr val="dk1"/>
              </a:solidFill>
              <a:latin typeface="Times New Roman"/>
              <a:ea typeface="Times New Roman"/>
              <a:cs typeface="Times New Roman"/>
              <a:sym typeface="Times New Roman"/>
            </a:endParaRPr>
          </a:p>
        </p:txBody>
      </p:sp>
      <p:pic>
        <p:nvPicPr>
          <p:cNvPr descr="preencoded.png" id="212" name="Google Shape;212;p4"/>
          <p:cNvPicPr preferRelativeResize="0"/>
          <p:nvPr/>
        </p:nvPicPr>
        <p:blipFill rotWithShape="1">
          <a:blip r:embed="rId3">
            <a:alphaModFix/>
          </a:blip>
          <a:srcRect b="0" l="0" r="0" t="0"/>
          <a:stretch/>
        </p:blipFill>
        <p:spPr>
          <a:xfrm>
            <a:off x="802608" y="2070816"/>
            <a:ext cx="429588" cy="496133"/>
          </a:xfrm>
          <a:prstGeom prst="rect">
            <a:avLst/>
          </a:prstGeom>
          <a:noFill/>
          <a:ln>
            <a:noFill/>
          </a:ln>
        </p:spPr>
      </p:pic>
      <p:sp>
        <p:nvSpPr>
          <p:cNvPr id="213" name="Google Shape;213;p4"/>
          <p:cNvSpPr/>
          <p:nvPr/>
        </p:nvSpPr>
        <p:spPr>
          <a:xfrm>
            <a:off x="1441030" y="2256791"/>
            <a:ext cx="214815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Tích hợp OCR</a:t>
            </a:r>
            <a:endParaRPr b="0" i="0" sz="1950" u="none" cap="none" strike="noStrike">
              <a:solidFill>
                <a:schemeClr val="dk1"/>
              </a:solidFill>
              <a:latin typeface="Times New Roman"/>
              <a:ea typeface="Times New Roman"/>
              <a:cs typeface="Times New Roman"/>
              <a:sym typeface="Times New Roman"/>
            </a:endParaRPr>
          </a:p>
        </p:txBody>
      </p:sp>
      <p:sp>
        <p:nvSpPr>
          <p:cNvPr id="214" name="Google Shape;214;p4"/>
          <p:cNvSpPr/>
          <p:nvPr/>
        </p:nvSpPr>
        <p:spPr>
          <a:xfrm>
            <a:off x="1441031" y="2591714"/>
            <a:ext cx="3981202"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Tự động trích xuất thông tin từ hình ảnh hoặc file scan, giảm thời gian nhập liệu.</a:t>
            </a:r>
            <a:endParaRPr b="0" i="0" sz="1400" u="none" cap="none" strike="noStrike">
              <a:solidFill>
                <a:schemeClr val="dk1"/>
              </a:solidFill>
              <a:latin typeface="Times New Roman"/>
              <a:ea typeface="Times New Roman"/>
              <a:cs typeface="Times New Roman"/>
              <a:sym typeface="Times New Roman"/>
            </a:endParaRPr>
          </a:p>
        </p:txBody>
      </p:sp>
      <p:pic>
        <p:nvPicPr>
          <p:cNvPr descr="preencoded.png" id="215" name="Google Shape;215;p4"/>
          <p:cNvPicPr preferRelativeResize="0"/>
          <p:nvPr/>
        </p:nvPicPr>
        <p:blipFill rotWithShape="1">
          <a:blip r:embed="rId3">
            <a:alphaModFix/>
          </a:blip>
          <a:srcRect b="0" l="0" r="0" t="0"/>
          <a:stretch/>
        </p:blipFill>
        <p:spPr>
          <a:xfrm>
            <a:off x="6695792" y="2070816"/>
            <a:ext cx="429588" cy="496133"/>
          </a:xfrm>
          <a:prstGeom prst="rect">
            <a:avLst/>
          </a:prstGeom>
          <a:noFill/>
          <a:ln>
            <a:noFill/>
          </a:ln>
        </p:spPr>
      </p:pic>
      <p:sp>
        <p:nvSpPr>
          <p:cNvPr id="216" name="Google Shape;216;p4"/>
          <p:cNvSpPr/>
          <p:nvPr/>
        </p:nvSpPr>
        <p:spPr>
          <a:xfrm>
            <a:off x="7332205" y="2250540"/>
            <a:ext cx="3154112"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Tìm kiếm &amp; Lọc Nâng Cao</a:t>
            </a:r>
            <a:endParaRPr b="0" i="0" sz="1950" u="none" cap="none" strike="noStrike">
              <a:solidFill>
                <a:schemeClr val="dk1"/>
              </a:solidFill>
              <a:latin typeface="Times New Roman"/>
              <a:ea typeface="Times New Roman"/>
              <a:cs typeface="Times New Roman"/>
              <a:sym typeface="Times New Roman"/>
            </a:endParaRPr>
          </a:p>
        </p:txBody>
      </p:sp>
      <p:sp>
        <p:nvSpPr>
          <p:cNvPr id="217" name="Google Shape;217;p4"/>
          <p:cNvSpPr/>
          <p:nvPr/>
        </p:nvSpPr>
        <p:spPr>
          <a:xfrm>
            <a:off x="7332205" y="2619812"/>
            <a:ext cx="4554287"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Dễ dàng tra cứu thông tin minh chứng theo nhiều tiêu chí khác nhau.</a:t>
            </a:r>
            <a:endParaRPr b="0" i="0" sz="1400" u="none" cap="none" strike="noStrike">
              <a:solidFill>
                <a:schemeClr val="dk1"/>
              </a:solidFill>
              <a:latin typeface="Times New Roman"/>
              <a:ea typeface="Times New Roman"/>
              <a:cs typeface="Times New Roman"/>
              <a:sym typeface="Times New Roman"/>
            </a:endParaRPr>
          </a:p>
        </p:txBody>
      </p:sp>
      <p:pic>
        <p:nvPicPr>
          <p:cNvPr descr="preencoded.png" id="218" name="Google Shape;218;p4"/>
          <p:cNvPicPr preferRelativeResize="0"/>
          <p:nvPr/>
        </p:nvPicPr>
        <p:blipFill rotWithShape="1">
          <a:blip r:embed="rId3">
            <a:alphaModFix/>
          </a:blip>
          <a:srcRect b="0" l="0" r="0" t="0"/>
          <a:stretch/>
        </p:blipFill>
        <p:spPr>
          <a:xfrm>
            <a:off x="793792" y="3450035"/>
            <a:ext cx="429588" cy="496133"/>
          </a:xfrm>
          <a:prstGeom prst="rect">
            <a:avLst/>
          </a:prstGeom>
          <a:noFill/>
          <a:ln>
            <a:noFill/>
          </a:ln>
        </p:spPr>
      </p:pic>
      <p:sp>
        <p:nvSpPr>
          <p:cNvPr id="219" name="Google Shape;219;p4"/>
          <p:cNvSpPr/>
          <p:nvPr/>
        </p:nvSpPr>
        <p:spPr>
          <a:xfrm>
            <a:off x="1430205" y="3651282"/>
            <a:ext cx="3005707" cy="3177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Dashboard Trực Quan</a:t>
            </a:r>
            <a:endParaRPr b="0" i="0" sz="1950" u="none" cap="none" strike="noStrike">
              <a:solidFill>
                <a:schemeClr val="dk1"/>
              </a:solidFill>
              <a:latin typeface="Times New Roman"/>
              <a:ea typeface="Times New Roman"/>
              <a:cs typeface="Times New Roman"/>
              <a:sym typeface="Times New Roman"/>
            </a:endParaRPr>
          </a:p>
        </p:txBody>
      </p:sp>
      <p:sp>
        <p:nvSpPr>
          <p:cNvPr id="220" name="Google Shape;220;p4"/>
          <p:cNvSpPr/>
          <p:nvPr/>
        </p:nvSpPr>
        <p:spPr>
          <a:xfrm>
            <a:off x="1419643" y="3921403"/>
            <a:ext cx="4533483"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Cung cấp cái nhìn tổng quan về tình hình quản lý minh chứng.</a:t>
            </a:r>
            <a:endParaRPr b="0" i="0" sz="1400" u="none" cap="none" strike="noStrike">
              <a:solidFill>
                <a:schemeClr val="dk1"/>
              </a:solidFill>
              <a:latin typeface="Times New Roman"/>
              <a:ea typeface="Times New Roman"/>
              <a:cs typeface="Times New Roman"/>
              <a:sym typeface="Times New Roman"/>
            </a:endParaRPr>
          </a:p>
        </p:txBody>
      </p:sp>
      <p:pic>
        <p:nvPicPr>
          <p:cNvPr descr="preencoded.png" id="221" name="Google Shape;221;p4"/>
          <p:cNvPicPr preferRelativeResize="0"/>
          <p:nvPr/>
        </p:nvPicPr>
        <p:blipFill rotWithShape="1">
          <a:blip r:embed="rId3">
            <a:alphaModFix/>
          </a:blip>
          <a:srcRect b="0" l="0" r="0" t="0"/>
          <a:stretch/>
        </p:blipFill>
        <p:spPr>
          <a:xfrm>
            <a:off x="6686976" y="3450036"/>
            <a:ext cx="429588" cy="496133"/>
          </a:xfrm>
          <a:prstGeom prst="rect">
            <a:avLst/>
          </a:prstGeom>
          <a:noFill/>
          <a:ln>
            <a:noFill/>
          </a:ln>
        </p:spPr>
      </p:pic>
      <p:sp>
        <p:nvSpPr>
          <p:cNvPr id="222" name="Google Shape;222;p4"/>
          <p:cNvSpPr/>
          <p:nvPr/>
        </p:nvSpPr>
        <p:spPr>
          <a:xfrm>
            <a:off x="7323389" y="3639537"/>
            <a:ext cx="214815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Xuất Báo Cáo</a:t>
            </a:r>
            <a:endParaRPr b="0" i="0" sz="1950" u="none" cap="none" strike="noStrike">
              <a:solidFill>
                <a:schemeClr val="dk1"/>
              </a:solidFill>
              <a:latin typeface="Times New Roman"/>
              <a:ea typeface="Times New Roman"/>
              <a:cs typeface="Times New Roman"/>
              <a:sym typeface="Times New Roman"/>
            </a:endParaRPr>
          </a:p>
        </p:txBody>
      </p:sp>
      <p:sp>
        <p:nvSpPr>
          <p:cNvPr id="223" name="Google Shape;223;p4"/>
          <p:cNvSpPr/>
          <p:nvPr/>
        </p:nvSpPr>
        <p:spPr>
          <a:xfrm>
            <a:off x="7324343" y="3921403"/>
            <a:ext cx="4762883"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Hỗ trợ xuất báo cáo ra các định dạng phổ biến như Excel và PDF.</a:t>
            </a:r>
            <a:endParaRPr b="0" i="0" sz="1400" u="none" cap="none" strike="noStrike">
              <a:solidFill>
                <a:schemeClr val="dk1"/>
              </a:solidFill>
              <a:latin typeface="Times New Roman"/>
              <a:ea typeface="Times New Roman"/>
              <a:cs typeface="Times New Roman"/>
              <a:sym typeface="Times New Roman"/>
            </a:endParaRPr>
          </a:p>
        </p:txBody>
      </p:sp>
      <p:sp>
        <p:nvSpPr>
          <p:cNvPr id="224" name="Google Shape;224;p4"/>
          <p:cNvSpPr/>
          <p:nvPr/>
        </p:nvSpPr>
        <p:spPr>
          <a:xfrm>
            <a:off x="513151" y="4496423"/>
            <a:ext cx="10968876"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Sau quá trình xây dựng và thử nghiệm, dự án đã hoàn thiện các chức năng cốt lõi và được đánh giá đáp ứng tốt nhu cầu thực tế của đơn vị sử dụng.</a:t>
            </a:r>
            <a:endParaRPr b="0" i="0" sz="1400" u="none" cap="none" strike="noStrike">
              <a:solidFill>
                <a:schemeClr val="dk1"/>
              </a:solidFill>
              <a:latin typeface="Times New Roman"/>
              <a:ea typeface="Times New Roman"/>
              <a:cs typeface="Times New Roman"/>
              <a:sym typeface="Times New Roman"/>
            </a:endParaRPr>
          </a:p>
        </p:txBody>
      </p:sp>
      <p:sp>
        <p:nvSpPr>
          <p:cNvPr id="225" name="Google Shape;225;p4"/>
          <p:cNvSpPr/>
          <p:nvPr/>
        </p:nvSpPr>
        <p:spPr>
          <a:xfrm>
            <a:off x="248890" y="4970965"/>
            <a:ext cx="3649908" cy="1793796"/>
          </a:xfrm>
          <a:prstGeom prst="roundRect">
            <a:avLst>
              <a:gd fmla="val 26555"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26" name="Google Shape;226;p4"/>
          <p:cNvSpPr/>
          <p:nvPr/>
        </p:nvSpPr>
        <p:spPr>
          <a:xfrm>
            <a:off x="599719" y="5027421"/>
            <a:ext cx="2800706"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Tối ưu hóa quy trình</a:t>
            </a:r>
            <a:endParaRPr b="0" i="0" sz="1950" u="none" cap="none" strike="noStrike">
              <a:solidFill>
                <a:schemeClr val="dk1"/>
              </a:solidFill>
              <a:latin typeface="Times New Roman"/>
              <a:ea typeface="Times New Roman"/>
              <a:cs typeface="Times New Roman"/>
              <a:sym typeface="Times New Roman"/>
            </a:endParaRPr>
          </a:p>
        </p:txBody>
      </p:sp>
      <p:sp>
        <p:nvSpPr>
          <p:cNvPr id="227" name="Google Shape;227;p4"/>
          <p:cNvSpPr/>
          <p:nvPr/>
        </p:nvSpPr>
        <p:spPr>
          <a:xfrm>
            <a:off x="554877" y="5394035"/>
            <a:ext cx="3293206" cy="128730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Giảm đáng kể thời gian xử lý thủ công và nâng cao độ chính xác trong việc lưu trữ – tra cứu hồ sơ.</a:t>
            </a:r>
            <a:endParaRPr b="0" i="0" sz="1400" u="none" cap="none" strike="noStrike">
              <a:solidFill>
                <a:schemeClr val="dk1"/>
              </a:solidFill>
              <a:latin typeface="Times New Roman"/>
              <a:ea typeface="Times New Roman"/>
              <a:cs typeface="Times New Roman"/>
              <a:sym typeface="Times New Roman"/>
            </a:endParaRPr>
          </a:p>
        </p:txBody>
      </p:sp>
      <p:sp>
        <p:nvSpPr>
          <p:cNvPr id="228" name="Google Shape;228;p4"/>
          <p:cNvSpPr/>
          <p:nvPr/>
        </p:nvSpPr>
        <p:spPr>
          <a:xfrm>
            <a:off x="4287105" y="4949641"/>
            <a:ext cx="3650011" cy="1793796"/>
          </a:xfrm>
          <a:prstGeom prst="roundRect">
            <a:avLst>
              <a:gd fmla="val 26555"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29" name="Google Shape;229;p4"/>
          <p:cNvSpPr/>
          <p:nvPr/>
        </p:nvSpPr>
        <p:spPr>
          <a:xfrm>
            <a:off x="4560599" y="5030199"/>
            <a:ext cx="3103023"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Thuận tiện cho giảng viên</a:t>
            </a:r>
            <a:endParaRPr b="0" i="0" sz="1950" u="none" cap="none" strike="noStrike">
              <a:solidFill>
                <a:schemeClr val="dk1"/>
              </a:solidFill>
              <a:latin typeface="Times New Roman"/>
              <a:ea typeface="Times New Roman"/>
              <a:cs typeface="Times New Roman"/>
              <a:sym typeface="Times New Roman"/>
            </a:endParaRPr>
          </a:p>
        </p:txBody>
      </p:sp>
      <p:sp>
        <p:nvSpPr>
          <p:cNvPr id="230" name="Google Shape;230;p4"/>
          <p:cNvSpPr/>
          <p:nvPr/>
        </p:nvSpPr>
        <p:spPr>
          <a:xfrm>
            <a:off x="4560599" y="5411490"/>
            <a:ext cx="3293309"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Giảng viên dễ dàng cập nhật minh chứng, tránh thất lạc tài liệu và đảm bảo tính đầy đủ.</a:t>
            </a:r>
            <a:endParaRPr b="0" i="0" sz="1400" u="none" cap="none" strike="noStrike">
              <a:solidFill>
                <a:schemeClr val="dk1"/>
              </a:solidFill>
              <a:latin typeface="Times New Roman"/>
              <a:ea typeface="Times New Roman"/>
              <a:cs typeface="Times New Roman"/>
              <a:sym typeface="Times New Roman"/>
            </a:endParaRPr>
          </a:p>
        </p:txBody>
      </p:sp>
      <p:sp>
        <p:nvSpPr>
          <p:cNvPr id="231" name="Google Shape;231;p4"/>
          <p:cNvSpPr/>
          <p:nvPr/>
        </p:nvSpPr>
        <p:spPr>
          <a:xfrm>
            <a:off x="8325424" y="4970965"/>
            <a:ext cx="3649908" cy="1793796"/>
          </a:xfrm>
          <a:prstGeom prst="roundRect">
            <a:avLst>
              <a:gd fmla="val 26555"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32" name="Google Shape;232;p4"/>
          <p:cNvSpPr/>
          <p:nvPr/>
        </p:nvSpPr>
        <p:spPr>
          <a:xfrm>
            <a:off x="8640027" y="5027421"/>
            <a:ext cx="214815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3C3939"/>
              </a:buClr>
              <a:buSzPts val="1950"/>
              <a:buFont typeface="Raleway"/>
              <a:buNone/>
            </a:pPr>
            <a:r>
              <a:rPr b="0" i="0" lang="en-US" sz="1950" u="none" cap="none" strike="noStrike">
                <a:solidFill>
                  <a:srgbClr val="3C3939"/>
                </a:solidFill>
                <a:latin typeface="Times New Roman"/>
                <a:ea typeface="Times New Roman"/>
                <a:cs typeface="Times New Roman"/>
                <a:sym typeface="Times New Roman"/>
              </a:rPr>
              <a:t>Chuyển đổi số</a:t>
            </a:r>
            <a:endParaRPr b="0" i="0" sz="1950" u="none" cap="none" strike="noStrike">
              <a:solidFill>
                <a:schemeClr val="dk1"/>
              </a:solidFill>
              <a:latin typeface="Times New Roman"/>
              <a:ea typeface="Times New Roman"/>
              <a:cs typeface="Times New Roman"/>
              <a:sym typeface="Times New Roman"/>
            </a:endParaRPr>
          </a:p>
        </p:txBody>
      </p:sp>
      <p:sp>
        <p:nvSpPr>
          <p:cNvPr id="233" name="Google Shape;233;p4"/>
          <p:cNvSpPr/>
          <p:nvPr/>
        </p:nvSpPr>
        <p:spPr>
          <a:xfrm>
            <a:off x="8640027" y="5373319"/>
            <a:ext cx="329320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Góp phần vào mục tiêu chuyển đổi số của trường, tạo nền tảng quản lý dữ liệu thống nhất, an toàn và dễ mở rộng.</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5"/>
          <p:cNvSpPr/>
          <p:nvPr/>
        </p:nvSpPr>
        <p:spPr>
          <a:xfrm>
            <a:off x="575072" y="130791"/>
            <a:ext cx="6854428" cy="4492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1B27"/>
              </a:buClr>
              <a:buSzPts val="2800"/>
              <a:buFont typeface="Raleway"/>
              <a:buNone/>
            </a:pPr>
            <a:r>
              <a:rPr b="0" i="0" lang="en-US" sz="3200" u="none" cap="none" strike="noStrike">
                <a:solidFill>
                  <a:srgbClr val="1B1B27"/>
                </a:solidFill>
                <a:latin typeface="Times New Roman"/>
                <a:ea typeface="Times New Roman"/>
                <a:cs typeface="Times New Roman"/>
                <a:sym typeface="Times New Roman"/>
              </a:rPr>
              <a:t>Lịch Làm Việc &amp; Kết Quả Thực Hiện</a:t>
            </a:r>
            <a:endParaRPr b="0" i="0" sz="3200" u="none" cap="none" strike="noStrike">
              <a:solidFill>
                <a:schemeClr val="dk1"/>
              </a:solidFill>
              <a:latin typeface="Times New Roman"/>
              <a:ea typeface="Times New Roman"/>
              <a:cs typeface="Times New Roman"/>
              <a:sym typeface="Times New Roman"/>
            </a:endParaRPr>
          </a:p>
        </p:txBody>
      </p:sp>
      <p:sp>
        <p:nvSpPr>
          <p:cNvPr id="239" name="Google Shape;239;p5"/>
          <p:cNvSpPr/>
          <p:nvPr/>
        </p:nvSpPr>
        <p:spPr>
          <a:xfrm>
            <a:off x="1685485" y="783952"/>
            <a:ext cx="8382440"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600" u="none" cap="none" strike="noStrike">
                <a:solidFill>
                  <a:srgbClr val="3C3939"/>
                </a:solidFill>
                <a:latin typeface="Times New Roman"/>
                <a:ea typeface="Times New Roman"/>
                <a:cs typeface="Times New Roman"/>
                <a:sym typeface="Times New Roman"/>
              </a:rPr>
              <a:t>Dưới đây là lịch trình và kết quả thực hiện các công việc chính trong quá trình thực tập tại CUSC.</a:t>
            </a:r>
            <a:endParaRPr b="0" i="0" sz="1600" u="none" cap="none" strike="noStrike">
              <a:solidFill>
                <a:schemeClr val="dk1"/>
              </a:solidFill>
              <a:latin typeface="Times New Roman"/>
              <a:ea typeface="Times New Roman"/>
              <a:cs typeface="Times New Roman"/>
              <a:sym typeface="Times New Roman"/>
            </a:endParaRPr>
          </a:p>
        </p:txBody>
      </p:sp>
      <p:sp>
        <p:nvSpPr>
          <p:cNvPr id="240" name="Google Shape;240;p5"/>
          <p:cNvSpPr/>
          <p:nvPr/>
        </p:nvSpPr>
        <p:spPr>
          <a:xfrm>
            <a:off x="582692" y="1139309"/>
            <a:ext cx="11600497" cy="5718692"/>
          </a:xfrm>
          <a:prstGeom prst="roundRect">
            <a:avLst>
              <a:gd fmla="val 1011" name="adj"/>
            </a:avLst>
          </a:prstGeom>
          <a:noFill/>
          <a:ln cap="flat" cmpd="sng" w="9525">
            <a:solidFill>
              <a:srgbClr val="000000">
                <a:alpha val="745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41" name="Google Shape;241;p5"/>
          <p:cNvSpPr/>
          <p:nvPr/>
        </p:nvSpPr>
        <p:spPr>
          <a:xfrm>
            <a:off x="613377" y="1133892"/>
            <a:ext cx="11586244" cy="877729"/>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42" name="Google Shape;242;p5"/>
          <p:cNvSpPr/>
          <p:nvPr/>
        </p:nvSpPr>
        <p:spPr>
          <a:xfrm>
            <a:off x="726757" y="1237491"/>
            <a:ext cx="161652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03/11/2025 – 09/11/2025</a:t>
            </a:r>
            <a:endParaRPr b="0" i="0" sz="1100" u="none" cap="none" strike="noStrike">
              <a:solidFill>
                <a:schemeClr val="dk1"/>
              </a:solidFill>
              <a:latin typeface="Times New Roman"/>
              <a:ea typeface="Times New Roman"/>
              <a:cs typeface="Times New Roman"/>
              <a:sym typeface="Times New Roman"/>
            </a:endParaRPr>
          </a:p>
        </p:txBody>
      </p:sp>
      <p:sp>
        <p:nvSpPr>
          <p:cNvPr id="243" name="Google Shape;243;p5"/>
          <p:cNvSpPr/>
          <p:nvPr/>
        </p:nvSpPr>
        <p:spPr>
          <a:xfrm>
            <a:off x="2750225" y="1328053"/>
            <a:ext cx="3635336"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Phân tích sơ khảo, xem chuyên môn</a:t>
            </a:r>
            <a:endParaRPr b="0" i="0" sz="1100" u="none" cap="none" strike="noStrike">
              <a:solidFill>
                <a:schemeClr val="dk1"/>
              </a:solidFill>
              <a:latin typeface="Times New Roman"/>
              <a:ea typeface="Times New Roman"/>
              <a:cs typeface="Times New Roman"/>
              <a:sym typeface="Times New Roman"/>
            </a:endParaRPr>
          </a:p>
        </p:txBody>
      </p:sp>
      <p:sp>
        <p:nvSpPr>
          <p:cNvPr id="244" name="Google Shape;244;p5"/>
          <p:cNvSpPr/>
          <p:nvPr/>
        </p:nvSpPr>
        <p:spPr>
          <a:xfrm>
            <a:off x="6695957" y="1139307"/>
            <a:ext cx="3501980" cy="69008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Thu thập thông tin về đơn vị, tìm hiểu quy trình làm việc, công nghệ sử dụng (Spring Boot, React, SQL Server). Xác định công việc phù hợp.</a:t>
            </a:r>
            <a:endParaRPr b="0" i="0" sz="1100" u="none" cap="none" strike="noStrike">
              <a:solidFill>
                <a:schemeClr val="dk1"/>
              </a:solidFill>
              <a:latin typeface="Times New Roman"/>
              <a:ea typeface="Times New Roman"/>
              <a:cs typeface="Times New Roman"/>
              <a:sym typeface="Times New Roman"/>
            </a:endParaRPr>
          </a:p>
        </p:txBody>
      </p:sp>
      <p:sp>
        <p:nvSpPr>
          <p:cNvPr id="245" name="Google Shape;245;p5"/>
          <p:cNvSpPr/>
          <p:nvPr/>
        </p:nvSpPr>
        <p:spPr>
          <a:xfrm>
            <a:off x="10968896" y="1341091"/>
            <a:ext cx="1183611"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Đã hoàn thành</a:t>
            </a:r>
            <a:endParaRPr b="0" i="0" sz="1100" u="none" cap="none" strike="noStrike">
              <a:solidFill>
                <a:schemeClr val="dk1"/>
              </a:solidFill>
              <a:latin typeface="Times New Roman"/>
              <a:ea typeface="Times New Roman"/>
              <a:cs typeface="Times New Roman"/>
              <a:sym typeface="Times New Roman"/>
            </a:endParaRPr>
          </a:p>
        </p:txBody>
      </p:sp>
      <p:sp>
        <p:nvSpPr>
          <p:cNvPr id="246" name="Google Shape;246;p5"/>
          <p:cNvSpPr/>
          <p:nvPr/>
        </p:nvSpPr>
        <p:spPr>
          <a:xfrm>
            <a:off x="582692" y="2031176"/>
            <a:ext cx="11609308" cy="877729"/>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47" name="Google Shape;247;p5"/>
          <p:cNvSpPr/>
          <p:nvPr/>
        </p:nvSpPr>
        <p:spPr>
          <a:xfrm>
            <a:off x="726756" y="2062341"/>
            <a:ext cx="161652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10/11/2025 – 16/11/2025</a:t>
            </a:r>
            <a:endParaRPr b="0" i="0" sz="1100" u="none" cap="none" strike="noStrike">
              <a:solidFill>
                <a:schemeClr val="dk1"/>
              </a:solidFill>
              <a:latin typeface="Times New Roman"/>
              <a:ea typeface="Times New Roman"/>
              <a:cs typeface="Times New Roman"/>
              <a:sym typeface="Times New Roman"/>
            </a:endParaRPr>
          </a:p>
        </p:txBody>
      </p:sp>
      <p:sp>
        <p:nvSpPr>
          <p:cNvPr id="248" name="Google Shape;248;p5"/>
          <p:cNvSpPr/>
          <p:nvPr/>
        </p:nvSpPr>
        <p:spPr>
          <a:xfrm>
            <a:off x="2750224" y="2186523"/>
            <a:ext cx="3343855"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Phân tích yêu cầu nghiệp vụ và mô tả hệ thống</a:t>
            </a:r>
            <a:endParaRPr b="0" i="0" sz="1100" u="none" cap="none" strike="noStrike">
              <a:solidFill>
                <a:schemeClr val="dk1"/>
              </a:solidFill>
              <a:latin typeface="Times New Roman"/>
              <a:ea typeface="Times New Roman"/>
              <a:cs typeface="Times New Roman"/>
              <a:sym typeface="Times New Roman"/>
            </a:endParaRPr>
          </a:p>
        </p:txBody>
      </p:sp>
      <p:sp>
        <p:nvSpPr>
          <p:cNvPr id="249" name="Google Shape;249;p5"/>
          <p:cNvSpPr/>
          <p:nvPr/>
        </p:nvSpPr>
        <p:spPr>
          <a:xfrm>
            <a:off x="6695957" y="2076094"/>
            <a:ext cx="3501980" cy="69008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Làm việc với mentor để thu thập yêu cầu chi tiết. Viết tài liệu nghiệp vụ: Use Case, mô tả dữ liệu, sơ đồ chức năng. Xác định các role và quy trình.</a:t>
            </a:r>
            <a:endParaRPr b="0" i="0" sz="1100" u="none" cap="none" strike="noStrike">
              <a:solidFill>
                <a:schemeClr val="dk1"/>
              </a:solidFill>
              <a:latin typeface="Times New Roman"/>
              <a:ea typeface="Times New Roman"/>
              <a:cs typeface="Times New Roman"/>
              <a:sym typeface="Times New Roman"/>
            </a:endParaRPr>
          </a:p>
        </p:txBody>
      </p:sp>
      <p:sp>
        <p:nvSpPr>
          <p:cNvPr id="250" name="Google Shape;250;p5"/>
          <p:cNvSpPr/>
          <p:nvPr/>
        </p:nvSpPr>
        <p:spPr>
          <a:xfrm>
            <a:off x="10968896" y="2283664"/>
            <a:ext cx="1183611"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Đã hoàn thành</a:t>
            </a:r>
            <a:endParaRPr b="0" i="0" sz="1100" u="none" cap="none" strike="noStrike">
              <a:solidFill>
                <a:schemeClr val="dk1"/>
              </a:solidFill>
              <a:latin typeface="Times New Roman"/>
              <a:ea typeface="Times New Roman"/>
              <a:cs typeface="Times New Roman"/>
              <a:sym typeface="Times New Roman"/>
            </a:endParaRPr>
          </a:p>
        </p:txBody>
      </p:sp>
      <p:sp>
        <p:nvSpPr>
          <p:cNvPr id="251" name="Google Shape;251;p5"/>
          <p:cNvSpPr/>
          <p:nvPr/>
        </p:nvSpPr>
        <p:spPr>
          <a:xfrm>
            <a:off x="613377" y="2919771"/>
            <a:ext cx="11578623" cy="1337786"/>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52" name="Google Shape;252;p5"/>
          <p:cNvSpPr/>
          <p:nvPr/>
        </p:nvSpPr>
        <p:spPr>
          <a:xfrm>
            <a:off x="726756" y="2902387"/>
            <a:ext cx="161652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17/11/2025 – 23/11/2025</a:t>
            </a:r>
            <a:endParaRPr b="0" i="0" sz="1100" u="none" cap="none" strike="noStrike">
              <a:solidFill>
                <a:schemeClr val="dk1"/>
              </a:solidFill>
              <a:latin typeface="Times New Roman"/>
              <a:ea typeface="Times New Roman"/>
              <a:cs typeface="Times New Roman"/>
              <a:sym typeface="Times New Roman"/>
            </a:endParaRPr>
          </a:p>
        </p:txBody>
      </p:sp>
      <p:sp>
        <p:nvSpPr>
          <p:cNvPr id="253" name="Google Shape;253;p5"/>
          <p:cNvSpPr/>
          <p:nvPr/>
        </p:nvSpPr>
        <p:spPr>
          <a:xfrm>
            <a:off x="2750224" y="3115835"/>
            <a:ext cx="3515291"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Thiết kế hệ thống &amp; cơ sở dữ liệu</a:t>
            </a:r>
            <a:endParaRPr b="0" i="0" sz="1100" u="none" cap="none" strike="noStrike">
              <a:solidFill>
                <a:schemeClr val="dk1"/>
              </a:solidFill>
              <a:latin typeface="Times New Roman"/>
              <a:ea typeface="Times New Roman"/>
              <a:cs typeface="Times New Roman"/>
              <a:sym typeface="Times New Roman"/>
            </a:endParaRPr>
          </a:p>
        </p:txBody>
      </p:sp>
      <p:sp>
        <p:nvSpPr>
          <p:cNvPr id="254" name="Google Shape;254;p5"/>
          <p:cNvSpPr/>
          <p:nvPr/>
        </p:nvSpPr>
        <p:spPr>
          <a:xfrm>
            <a:off x="6695956" y="3005853"/>
            <a:ext cx="3972043" cy="1150144"/>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Thiết kế mô hình CSDL (User, Course, Trial Teaching, Evidence, Assignment). Vẽ sơ đồ ERD, Data Dictionary chuẩn hoá 3NF. Thiết kế kiến trúc hệ thống (Backend Spring Boot – Frontend React – DB SQL Server). Chuẩn bị tài liệu mô tả API.</a:t>
            </a:r>
            <a:endParaRPr b="0" i="0" sz="1100" u="none" cap="none" strike="noStrike">
              <a:solidFill>
                <a:schemeClr val="dk1"/>
              </a:solidFill>
              <a:latin typeface="Times New Roman"/>
              <a:ea typeface="Times New Roman"/>
              <a:cs typeface="Times New Roman"/>
              <a:sym typeface="Times New Roman"/>
            </a:endParaRPr>
          </a:p>
        </p:txBody>
      </p:sp>
      <p:sp>
        <p:nvSpPr>
          <p:cNvPr id="255" name="Google Shape;255;p5"/>
          <p:cNvSpPr/>
          <p:nvPr/>
        </p:nvSpPr>
        <p:spPr>
          <a:xfrm>
            <a:off x="10968897" y="3017401"/>
            <a:ext cx="1200040"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Đã hoàn thành</a:t>
            </a:r>
            <a:endParaRPr b="0" i="0" sz="1100" u="none" cap="none" strike="noStrike">
              <a:solidFill>
                <a:schemeClr val="dk1"/>
              </a:solidFill>
              <a:latin typeface="Times New Roman"/>
              <a:ea typeface="Times New Roman"/>
              <a:cs typeface="Times New Roman"/>
              <a:sym typeface="Times New Roman"/>
            </a:endParaRPr>
          </a:p>
        </p:txBody>
      </p:sp>
      <p:sp>
        <p:nvSpPr>
          <p:cNvPr id="256" name="Google Shape;256;p5"/>
          <p:cNvSpPr/>
          <p:nvPr/>
        </p:nvSpPr>
        <p:spPr>
          <a:xfrm>
            <a:off x="582692" y="4084797"/>
            <a:ext cx="11616929" cy="877729"/>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57" name="Google Shape;257;p5"/>
          <p:cNvSpPr/>
          <p:nvPr/>
        </p:nvSpPr>
        <p:spPr>
          <a:xfrm>
            <a:off x="726755" y="4096345"/>
            <a:ext cx="161652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24/11/2025 – 30/11/2025</a:t>
            </a:r>
            <a:endParaRPr b="0" i="0" sz="1100" u="none" cap="none" strike="noStrike">
              <a:solidFill>
                <a:schemeClr val="dk1"/>
              </a:solidFill>
              <a:latin typeface="Times New Roman"/>
              <a:ea typeface="Times New Roman"/>
              <a:cs typeface="Times New Roman"/>
              <a:sym typeface="Times New Roman"/>
            </a:endParaRPr>
          </a:p>
        </p:txBody>
      </p:sp>
      <p:sp>
        <p:nvSpPr>
          <p:cNvPr id="258" name="Google Shape;258;p5"/>
          <p:cNvSpPr/>
          <p:nvPr/>
        </p:nvSpPr>
        <p:spPr>
          <a:xfrm>
            <a:off x="2750224" y="4117777"/>
            <a:ext cx="3515292"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Xây dựng chức năng Backend</a:t>
            </a:r>
            <a:endParaRPr b="0" i="0" sz="1100" u="none" cap="none" strike="noStrike">
              <a:solidFill>
                <a:schemeClr val="dk1"/>
              </a:solidFill>
              <a:latin typeface="Times New Roman"/>
              <a:ea typeface="Times New Roman"/>
              <a:cs typeface="Times New Roman"/>
              <a:sym typeface="Times New Roman"/>
            </a:endParaRPr>
          </a:p>
        </p:txBody>
      </p:sp>
      <p:sp>
        <p:nvSpPr>
          <p:cNvPr id="259" name="Google Shape;259;p5"/>
          <p:cNvSpPr/>
          <p:nvPr/>
        </p:nvSpPr>
        <p:spPr>
          <a:xfrm>
            <a:off x="6695955" y="4135161"/>
            <a:ext cx="3842503" cy="69008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Tạo project Spring Boot theo mô hình 3-layer. Xây dựng API: đăng nhập, phân quyền, quản lý môn học. Tạo các entity, repository, DTO. Kiểm thử Postman và tối ưu query.</a:t>
            </a:r>
            <a:endParaRPr b="0" i="0" sz="1100" u="none" cap="none" strike="noStrike">
              <a:solidFill>
                <a:schemeClr val="dk1"/>
              </a:solidFill>
              <a:latin typeface="Times New Roman"/>
              <a:ea typeface="Times New Roman"/>
              <a:cs typeface="Times New Roman"/>
              <a:sym typeface="Times New Roman"/>
            </a:endParaRPr>
          </a:p>
        </p:txBody>
      </p:sp>
      <p:sp>
        <p:nvSpPr>
          <p:cNvPr id="260" name="Google Shape;260;p5"/>
          <p:cNvSpPr/>
          <p:nvPr/>
        </p:nvSpPr>
        <p:spPr>
          <a:xfrm>
            <a:off x="10968896" y="4250175"/>
            <a:ext cx="1200041"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Đang tiến hành</a:t>
            </a:r>
            <a:endParaRPr b="0" i="0" sz="1100" u="none" cap="none" strike="noStrike">
              <a:solidFill>
                <a:schemeClr val="dk1"/>
              </a:solidFill>
              <a:latin typeface="Times New Roman"/>
              <a:ea typeface="Times New Roman"/>
              <a:cs typeface="Times New Roman"/>
              <a:sym typeface="Times New Roman"/>
            </a:endParaRPr>
          </a:p>
        </p:txBody>
      </p:sp>
      <p:sp>
        <p:nvSpPr>
          <p:cNvPr id="261" name="Google Shape;261;p5"/>
          <p:cNvSpPr/>
          <p:nvPr/>
        </p:nvSpPr>
        <p:spPr>
          <a:xfrm>
            <a:off x="582692" y="4939904"/>
            <a:ext cx="11616929" cy="1107758"/>
          </a:xfrm>
          <a:prstGeom prst="rect">
            <a:avLst/>
          </a:prstGeom>
          <a:solidFill>
            <a:srgbClr val="FFFFFF">
              <a:alpha val="352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62" name="Google Shape;262;p5"/>
          <p:cNvSpPr/>
          <p:nvPr/>
        </p:nvSpPr>
        <p:spPr>
          <a:xfrm>
            <a:off x="726755" y="4939904"/>
            <a:ext cx="161652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01/12/2025 – 07/12/2025</a:t>
            </a:r>
            <a:endParaRPr b="0" i="0" sz="1100" u="none" cap="none" strike="noStrike">
              <a:solidFill>
                <a:schemeClr val="dk1"/>
              </a:solidFill>
              <a:latin typeface="Times New Roman"/>
              <a:ea typeface="Times New Roman"/>
              <a:cs typeface="Times New Roman"/>
              <a:sym typeface="Times New Roman"/>
            </a:endParaRPr>
          </a:p>
        </p:txBody>
      </p:sp>
      <p:sp>
        <p:nvSpPr>
          <p:cNvPr id="263" name="Google Shape;263;p5"/>
          <p:cNvSpPr/>
          <p:nvPr/>
        </p:nvSpPr>
        <p:spPr>
          <a:xfrm>
            <a:off x="2750223" y="4941332"/>
            <a:ext cx="3515292"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Xây dựng chức năng Frontend</a:t>
            </a:r>
            <a:endParaRPr b="0" i="0" sz="1100" u="none" cap="none" strike="noStrike">
              <a:solidFill>
                <a:schemeClr val="dk1"/>
              </a:solidFill>
              <a:latin typeface="Times New Roman"/>
              <a:ea typeface="Times New Roman"/>
              <a:cs typeface="Times New Roman"/>
              <a:sym typeface="Times New Roman"/>
            </a:endParaRPr>
          </a:p>
        </p:txBody>
      </p:sp>
      <p:sp>
        <p:nvSpPr>
          <p:cNvPr id="264" name="Google Shape;264;p5"/>
          <p:cNvSpPr/>
          <p:nvPr/>
        </p:nvSpPr>
        <p:spPr>
          <a:xfrm>
            <a:off x="6695954" y="4942523"/>
            <a:ext cx="3842503" cy="92011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Khởi tạo giao diện React theo chuẩn UI/UX. Tạo các trang: Login, Dashboard, Danh sách môn học, Giảng thử. Kết nối API Backend bằng Axios. Hoàn thiện luồng: Đăng nhập → Chọn môn → Xem Trial Teaching.</a:t>
            </a:r>
            <a:endParaRPr b="0" i="0" sz="1100" u="none" cap="none" strike="noStrike">
              <a:solidFill>
                <a:schemeClr val="dk1"/>
              </a:solidFill>
              <a:latin typeface="Times New Roman"/>
              <a:ea typeface="Times New Roman"/>
              <a:cs typeface="Times New Roman"/>
              <a:sym typeface="Times New Roman"/>
            </a:endParaRPr>
          </a:p>
        </p:txBody>
      </p:sp>
      <p:sp>
        <p:nvSpPr>
          <p:cNvPr id="265" name="Google Shape;265;p5"/>
          <p:cNvSpPr/>
          <p:nvPr/>
        </p:nvSpPr>
        <p:spPr>
          <a:xfrm>
            <a:off x="10968897" y="5127904"/>
            <a:ext cx="1223104"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Đang tiến hành</a:t>
            </a:r>
            <a:endParaRPr b="0" i="0" sz="1100" u="none" cap="none" strike="noStrike">
              <a:solidFill>
                <a:schemeClr val="dk1"/>
              </a:solidFill>
              <a:latin typeface="Times New Roman"/>
              <a:ea typeface="Times New Roman"/>
              <a:cs typeface="Times New Roman"/>
              <a:sym typeface="Times New Roman"/>
            </a:endParaRPr>
          </a:p>
        </p:txBody>
      </p:sp>
      <p:sp>
        <p:nvSpPr>
          <p:cNvPr id="266" name="Google Shape;266;p5"/>
          <p:cNvSpPr/>
          <p:nvPr/>
        </p:nvSpPr>
        <p:spPr>
          <a:xfrm>
            <a:off x="582693" y="6041470"/>
            <a:ext cx="11616928" cy="809147"/>
          </a:xfrm>
          <a:prstGeom prst="rect">
            <a:avLst/>
          </a:prstGeom>
          <a:solidFill>
            <a:srgbClr val="000000">
              <a:alpha val="352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67" name="Google Shape;267;p5"/>
          <p:cNvSpPr/>
          <p:nvPr/>
        </p:nvSpPr>
        <p:spPr>
          <a:xfrm>
            <a:off x="780098" y="6051531"/>
            <a:ext cx="161652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08/12/2025 – 12/12/2025</a:t>
            </a:r>
            <a:endParaRPr b="0" i="0" sz="1100" u="none" cap="none" strike="noStrike">
              <a:solidFill>
                <a:schemeClr val="dk1"/>
              </a:solidFill>
              <a:latin typeface="Times New Roman"/>
              <a:ea typeface="Times New Roman"/>
              <a:cs typeface="Times New Roman"/>
              <a:sym typeface="Times New Roman"/>
            </a:endParaRPr>
          </a:p>
        </p:txBody>
      </p:sp>
      <p:sp>
        <p:nvSpPr>
          <p:cNvPr id="268" name="Google Shape;268;p5"/>
          <p:cNvSpPr/>
          <p:nvPr/>
        </p:nvSpPr>
        <p:spPr>
          <a:xfrm>
            <a:off x="2750221" y="6059151"/>
            <a:ext cx="3521039"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Kiểm thử – Hoàn thiện – Báo cáo</a:t>
            </a:r>
            <a:endParaRPr b="0" i="0" sz="1100" u="none" cap="none" strike="noStrike">
              <a:solidFill>
                <a:schemeClr val="dk1"/>
              </a:solidFill>
              <a:latin typeface="Times New Roman"/>
              <a:ea typeface="Times New Roman"/>
              <a:cs typeface="Times New Roman"/>
              <a:sym typeface="Times New Roman"/>
            </a:endParaRPr>
          </a:p>
        </p:txBody>
      </p:sp>
      <p:sp>
        <p:nvSpPr>
          <p:cNvPr id="269" name="Google Shape;269;p5"/>
          <p:cNvSpPr/>
          <p:nvPr/>
        </p:nvSpPr>
        <p:spPr>
          <a:xfrm>
            <a:off x="6695956" y="6048853"/>
            <a:ext cx="3720583" cy="690086"/>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Viết Testcase và kiểm thử toàn bộ chức năng. Sửa lỗi giao diện, lỗi API, tối ưu hiệu năng. Viết báo cáo thực tập. Chuẩn bị slide và nội dung bảo vệ thực tập.</a:t>
            </a:r>
            <a:endParaRPr b="0" i="0" sz="1100" u="none" cap="none" strike="noStrike">
              <a:solidFill>
                <a:schemeClr val="dk1"/>
              </a:solidFill>
              <a:latin typeface="Times New Roman"/>
              <a:ea typeface="Times New Roman"/>
              <a:cs typeface="Times New Roman"/>
              <a:sym typeface="Times New Roman"/>
            </a:endParaRPr>
          </a:p>
        </p:txBody>
      </p:sp>
      <p:sp>
        <p:nvSpPr>
          <p:cNvPr id="270" name="Google Shape;270;p5"/>
          <p:cNvSpPr/>
          <p:nvPr/>
        </p:nvSpPr>
        <p:spPr>
          <a:xfrm>
            <a:off x="10968897" y="6179107"/>
            <a:ext cx="1223104" cy="230029"/>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C3939"/>
              </a:buClr>
              <a:buSzPts val="1100"/>
              <a:buFont typeface="Roboto"/>
              <a:buNone/>
            </a:pPr>
            <a:r>
              <a:rPr b="0" i="0" lang="en-US" sz="1100" u="none" cap="none" strike="noStrike">
                <a:solidFill>
                  <a:srgbClr val="3C3939"/>
                </a:solidFill>
                <a:latin typeface="Times New Roman"/>
                <a:ea typeface="Times New Roman"/>
                <a:cs typeface="Times New Roman"/>
                <a:sym typeface="Times New Roman"/>
              </a:rPr>
              <a:t>Đang tiến hành</a:t>
            </a:r>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6"/>
          <p:cNvSpPr/>
          <p:nvPr/>
        </p:nvSpPr>
        <p:spPr>
          <a:xfrm>
            <a:off x="289679" y="16497"/>
            <a:ext cx="3282196" cy="360283"/>
          </a:xfrm>
          <a:prstGeom prst="rect">
            <a:avLst/>
          </a:prstGeom>
          <a:noFill/>
          <a:ln>
            <a:noFill/>
          </a:ln>
        </p:spPr>
        <p:txBody>
          <a:bodyPr anchorCtr="0" anchor="t" bIns="0" lIns="0" spcFirstLastPara="1" rIns="0" wrap="square" tIns="0">
            <a:noAutofit/>
          </a:bodyPr>
          <a:lstStyle/>
          <a:p>
            <a:pPr indent="0" lvl="0" marL="0" marR="0" rtl="0" algn="l">
              <a:lnSpc>
                <a:spcPct val="124444"/>
              </a:lnSpc>
              <a:spcBef>
                <a:spcPts val="0"/>
              </a:spcBef>
              <a:spcAft>
                <a:spcPts val="0"/>
              </a:spcAft>
              <a:buClr>
                <a:srgbClr val="1B1B27"/>
              </a:buClr>
              <a:buSzPts val="2250"/>
              <a:buFont typeface="Raleway"/>
              <a:buNone/>
            </a:pPr>
            <a:r>
              <a:rPr b="0" i="0" lang="en-US" sz="3200" u="none" cap="none" strike="noStrike">
                <a:solidFill>
                  <a:srgbClr val="1B1B27"/>
                </a:solidFill>
                <a:latin typeface="Times New Roman"/>
                <a:ea typeface="Times New Roman"/>
                <a:cs typeface="Times New Roman"/>
                <a:sym typeface="Times New Roman"/>
              </a:rPr>
              <a:t>Sơ đồ hệ thống</a:t>
            </a:r>
            <a:endParaRPr b="0" i="0" sz="3200" u="none" cap="none" strike="noStrike">
              <a:solidFill>
                <a:schemeClr val="dk1"/>
              </a:solidFill>
              <a:latin typeface="Times New Roman"/>
              <a:ea typeface="Times New Roman"/>
              <a:cs typeface="Times New Roman"/>
              <a:sym typeface="Times New Roman"/>
            </a:endParaRPr>
          </a:p>
        </p:txBody>
      </p:sp>
      <p:sp>
        <p:nvSpPr>
          <p:cNvPr id="276" name="Google Shape;276;p6"/>
          <p:cNvSpPr/>
          <p:nvPr/>
        </p:nvSpPr>
        <p:spPr>
          <a:xfrm>
            <a:off x="1684793" y="733425"/>
            <a:ext cx="5634871" cy="180142"/>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3C3939"/>
              </a:buClr>
              <a:buSzPts val="900"/>
              <a:buFont typeface="Roboto"/>
              <a:buNone/>
            </a:pPr>
            <a:r>
              <a:rPr b="0" i="0" lang="en-US" sz="1600" u="none" cap="none" strike="noStrike">
                <a:solidFill>
                  <a:srgbClr val="3C3939"/>
                </a:solidFill>
                <a:latin typeface="Times New Roman"/>
                <a:ea typeface="Times New Roman"/>
                <a:cs typeface="Times New Roman"/>
                <a:sym typeface="Times New Roman"/>
              </a:rPr>
              <a:t>Dự án sử dụng sơ đồ ERD để mô tả database và sơ đồ Microservice và Use Case cho kiến trúc hệ thống.</a:t>
            </a:r>
            <a:endParaRPr b="0" i="0" sz="1600" u="none" cap="none" strike="noStrike">
              <a:solidFill>
                <a:schemeClr val="dk1"/>
              </a:solidFill>
              <a:latin typeface="Times New Roman"/>
              <a:ea typeface="Times New Roman"/>
              <a:cs typeface="Times New Roman"/>
              <a:sym typeface="Times New Roman"/>
            </a:endParaRPr>
          </a:p>
        </p:txBody>
      </p:sp>
      <p:sp>
        <p:nvSpPr>
          <p:cNvPr id="277" name="Google Shape;277;p6"/>
          <p:cNvSpPr/>
          <p:nvPr/>
        </p:nvSpPr>
        <p:spPr>
          <a:xfrm>
            <a:off x="203954" y="1285375"/>
            <a:ext cx="1052471" cy="22910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1B27"/>
              </a:buClr>
              <a:buSzPts val="1100"/>
              <a:buFont typeface="Raleway"/>
              <a:buNone/>
            </a:pPr>
            <a:r>
              <a:rPr b="0" i="0" lang="en-US" sz="1600" u="none" cap="none" strike="noStrike">
                <a:solidFill>
                  <a:srgbClr val="1B1B27"/>
                </a:solidFill>
                <a:latin typeface="Times New Roman"/>
                <a:ea typeface="Times New Roman"/>
                <a:cs typeface="Times New Roman"/>
                <a:sym typeface="Times New Roman"/>
              </a:rPr>
              <a:t>Sơ đồ ERD</a:t>
            </a:r>
            <a:endParaRPr b="0" i="0" sz="1600" u="none" cap="none" strike="noStrike">
              <a:solidFill>
                <a:schemeClr val="dk1"/>
              </a:solidFill>
              <a:latin typeface="Times New Roman"/>
              <a:ea typeface="Times New Roman"/>
              <a:cs typeface="Times New Roman"/>
              <a:sym typeface="Times New Roman"/>
            </a:endParaRPr>
          </a:p>
        </p:txBody>
      </p:sp>
      <p:pic>
        <p:nvPicPr>
          <p:cNvPr id="278" name="Google Shape;278;p6"/>
          <p:cNvPicPr preferRelativeResize="0"/>
          <p:nvPr/>
        </p:nvPicPr>
        <p:blipFill>
          <a:blip r:embed="rId3">
            <a:alphaModFix/>
          </a:blip>
          <a:stretch>
            <a:fillRect/>
          </a:stretch>
        </p:blipFill>
        <p:spPr>
          <a:xfrm>
            <a:off x="1918900" y="1432225"/>
            <a:ext cx="8398700" cy="54257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7"/>
          <p:cNvSpPr/>
          <p:nvPr/>
        </p:nvSpPr>
        <p:spPr>
          <a:xfrm>
            <a:off x="4022765" y="204076"/>
            <a:ext cx="4425910" cy="620316"/>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1B1B27"/>
              </a:buClr>
              <a:buSzPts val="1950"/>
              <a:buFont typeface="Raleway"/>
              <a:buNone/>
            </a:pPr>
            <a:r>
              <a:rPr b="0" i="0" lang="en-US" sz="3200" u="none" cap="none" strike="noStrike">
                <a:solidFill>
                  <a:srgbClr val="1B1B27"/>
                </a:solidFill>
                <a:latin typeface="Times New Roman"/>
                <a:ea typeface="Times New Roman"/>
                <a:cs typeface="Times New Roman"/>
                <a:sym typeface="Times New Roman"/>
              </a:rPr>
              <a:t>Sơ đồ Microservice</a:t>
            </a:r>
            <a:endParaRPr b="0" i="0" sz="3200" u="none" cap="none" strike="noStrike">
              <a:solidFill>
                <a:schemeClr val="dk1"/>
              </a:solidFill>
              <a:latin typeface="Times New Roman"/>
              <a:ea typeface="Times New Roman"/>
              <a:cs typeface="Times New Roman"/>
              <a:sym typeface="Times New Roman"/>
            </a:endParaRPr>
          </a:p>
        </p:txBody>
      </p:sp>
      <p:pic>
        <p:nvPicPr>
          <p:cNvPr descr="preencoded.png" id="284" name="Google Shape;284;p7"/>
          <p:cNvPicPr preferRelativeResize="0"/>
          <p:nvPr/>
        </p:nvPicPr>
        <p:blipFill rotWithShape="1">
          <a:blip r:embed="rId3">
            <a:alphaModFix/>
          </a:blip>
          <a:srcRect b="0" l="0" r="0" t="0"/>
          <a:stretch/>
        </p:blipFill>
        <p:spPr>
          <a:xfrm>
            <a:off x="279440" y="1438600"/>
            <a:ext cx="11912560" cy="5215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E0E0E0"/>
            </a:gs>
          </a:gsLst>
          <a:path path="circle">
            <a:fillToRect b="100%" l="0%" r="100%" t="0%"/>
          </a:path>
          <a:tileRect b="0%" l="-100%" r="0%" t="-100%"/>
        </a:gradFill>
      </p:bgPr>
    </p:bg>
    <p:spTree>
      <p:nvGrpSpPr>
        <p:cNvPr id="288" name="Shape 288"/>
        <p:cNvGrpSpPr/>
        <p:nvPr/>
      </p:nvGrpSpPr>
      <p:grpSpPr>
        <a:xfrm>
          <a:off x="0" y="0"/>
          <a:ext cx="0" cy="0"/>
          <a:chOff x="0" y="0"/>
          <a:chExt cx="0" cy="0"/>
        </a:xfrm>
      </p:grpSpPr>
      <p:sp>
        <p:nvSpPr>
          <p:cNvPr id="289" name="Google Shape;289;p8"/>
          <p:cNvSpPr/>
          <p:nvPr/>
        </p:nvSpPr>
        <p:spPr>
          <a:xfrm>
            <a:off x="1744652" y="171869"/>
            <a:ext cx="8915399" cy="82344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3200" u="none" cap="none" strike="noStrike">
                <a:solidFill>
                  <a:srgbClr val="262626"/>
                </a:solidFill>
                <a:latin typeface="Times New Roman"/>
                <a:ea typeface="Times New Roman"/>
                <a:cs typeface="Times New Roman"/>
                <a:sym typeface="Times New Roman"/>
              </a:rPr>
              <a:t>Sơ đồ Use Case</a:t>
            </a:r>
            <a:endParaRPr b="0" i="0" sz="3200" u="none" cap="none" strike="noStrike">
              <a:solidFill>
                <a:srgbClr val="262626"/>
              </a:solidFill>
              <a:latin typeface="Times New Roman"/>
              <a:ea typeface="Times New Roman"/>
              <a:cs typeface="Times New Roman"/>
              <a:sym typeface="Times New Roman"/>
            </a:endParaRPr>
          </a:p>
        </p:txBody>
      </p:sp>
      <p:pic>
        <p:nvPicPr>
          <p:cNvPr descr="preencoded.png" id="290" name="Google Shape;290;p8"/>
          <p:cNvPicPr preferRelativeResize="0"/>
          <p:nvPr/>
        </p:nvPicPr>
        <p:blipFill rotWithShape="1">
          <a:blip r:embed="rId3">
            <a:alphaModFix/>
          </a:blip>
          <a:srcRect b="0" l="0" r="0" t="0"/>
          <a:stretch/>
        </p:blipFill>
        <p:spPr>
          <a:xfrm>
            <a:off x="936630" y="1048052"/>
            <a:ext cx="9883770" cy="58099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9"/>
          <p:cNvSpPr/>
          <p:nvPr/>
        </p:nvSpPr>
        <p:spPr>
          <a:xfrm>
            <a:off x="399574" y="0"/>
            <a:ext cx="4700707" cy="587573"/>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1B1B27"/>
              </a:buClr>
              <a:buSzPts val="3700"/>
              <a:buFont typeface="Raleway"/>
              <a:buNone/>
            </a:pPr>
            <a:r>
              <a:rPr b="0" i="0" lang="en-US" sz="3200" u="none" cap="none" strike="noStrike">
                <a:solidFill>
                  <a:srgbClr val="1B1B27"/>
                </a:solidFill>
                <a:latin typeface="Times New Roman"/>
                <a:ea typeface="Times New Roman"/>
                <a:cs typeface="Times New Roman"/>
                <a:sym typeface="Times New Roman"/>
              </a:rPr>
              <a:t>Giới Thiệu về CUSC</a:t>
            </a:r>
            <a:endParaRPr b="0" i="0" sz="3200" u="none" cap="none" strike="noStrike">
              <a:solidFill>
                <a:schemeClr val="dk1"/>
              </a:solidFill>
              <a:latin typeface="Times New Roman"/>
              <a:ea typeface="Times New Roman"/>
              <a:cs typeface="Times New Roman"/>
              <a:sym typeface="Times New Roman"/>
            </a:endParaRPr>
          </a:p>
        </p:txBody>
      </p:sp>
      <p:sp>
        <p:nvSpPr>
          <p:cNvPr id="296" name="Google Shape;296;p9"/>
          <p:cNvSpPr/>
          <p:nvPr/>
        </p:nvSpPr>
        <p:spPr>
          <a:xfrm>
            <a:off x="399574" y="1222992"/>
            <a:ext cx="11792426" cy="60150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600" u="none" cap="none" strike="noStrike">
                <a:solidFill>
                  <a:srgbClr val="3C3939"/>
                </a:solidFill>
                <a:latin typeface="Times New Roman"/>
                <a:ea typeface="Times New Roman"/>
                <a:cs typeface="Times New Roman"/>
                <a:sym typeface="Times New Roman"/>
              </a:rPr>
              <a:t>Trung Tâm Công Nghệ Phần Mềm – Đại Học Cần Thơ (CUSC) được thành lập với mục tiêu hỗ trợ nghiên cứu, phát triển phần mềm và ứng dụng công nghệ thông tin trong môi trường giáo dục và doanh nghiệp.</a:t>
            </a:r>
            <a:endParaRPr b="0" i="0" sz="1600" u="none" cap="none" strike="noStrike">
              <a:solidFill>
                <a:schemeClr val="dk1"/>
              </a:solidFill>
              <a:latin typeface="Times New Roman"/>
              <a:ea typeface="Times New Roman"/>
              <a:cs typeface="Times New Roman"/>
              <a:sym typeface="Times New Roman"/>
            </a:endParaRPr>
          </a:p>
        </p:txBody>
      </p:sp>
      <p:sp>
        <p:nvSpPr>
          <p:cNvPr id="297" name="Google Shape;297;p9"/>
          <p:cNvSpPr/>
          <p:nvPr/>
        </p:nvSpPr>
        <p:spPr>
          <a:xfrm>
            <a:off x="399574" y="2194559"/>
            <a:ext cx="5787033" cy="4591349"/>
          </a:xfrm>
          <a:prstGeom prst="roundRect">
            <a:avLst>
              <a:gd fmla="val 1457"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298" name="Google Shape;298;p9"/>
          <p:cNvSpPr/>
          <p:nvPr/>
        </p:nvSpPr>
        <p:spPr>
          <a:xfrm>
            <a:off x="670917" y="2293501"/>
            <a:ext cx="2350294" cy="293727"/>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850" u="none" cap="none" strike="noStrike">
                <a:solidFill>
                  <a:srgbClr val="3C3939"/>
                </a:solidFill>
                <a:latin typeface="Times New Roman"/>
                <a:ea typeface="Times New Roman"/>
                <a:cs typeface="Times New Roman"/>
                <a:sym typeface="Times New Roman"/>
              </a:rPr>
              <a:t>Lịch sử hình thành</a:t>
            </a:r>
            <a:endParaRPr b="0" i="0" sz="1850" u="none" cap="none" strike="noStrike">
              <a:solidFill>
                <a:schemeClr val="dk1"/>
              </a:solidFill>
              <a:latin typeface="Times New Roman"/>
              <a:ea typeface="Times New Roman"/>
              <a:cs typeface="Times New Roman"/>
              <a:sym typeface="Times New Roman"/>
            </a:endParaRPr>
          </a:p>
        </p:txBody>
      </p:sp>
      <p:sp>
        <p:nvSpPr>
          <p:cNvPr id="299" name="Google Shape;299;p9"/>
          <p:cNvSpPr/>
          <p:nvPr/>
        </p:nvSpPr>
        <p:spPr>
          <a:xfrm>
            <a:off x="670918" y="2866133"/>
            <a:ext cx="5515690" cy="1203008"/>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Trải qua nhiều năm hoạt động, CUSC đã trở thành một đơn vị quan trọng của Đại học Cần Thơ trong việc phát triển sản phẩm phần mềm, tổ chức các khóa đào tạo và thực tập cho sinh viên, thúc đẩy nghiên cứu ứng dụng các công nghệ mới như AI, IoT, Big Data và Blockchain.</a:t>
            </a:r>
            <a:endParaRPr b="0" i="0" sz="1400" u="none" cap="none" strike="noStrike">
              <a:solidFill>
                <a:schemeClr val="dk1"/>
              </a:solidFill>
              <a:latin typeface="Times New Roman"/>
              <a:ea typeface="Times New Roman"/>
              <a:cs typeface="Times New Roman"/>
              <a:sym typeface="Times New Roman"/>
            </a:endParaRPr>
          </a:p>
        </p:txBody>
      </p:sp>
      <p:sp>
        <p:nvSpPr>
          <p:cNvPr id="300" name="Google Shape;300;p9"/>
          <p:cNvSpPr/>
          <p:nvPr/>
        </p:nvSpPr>
        <p:spPr>
          <a:xfrm>
            <a:off x="6716594" y="2194559"/>
            <a:ext cx="5186482" cy="4591350"/>
          </a:xfrm>
          <a:prstGeom prst="roundRect">
            <a:avLst>
              <a:gd fmla="val 1457"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01" name="Google Shape;301;p9"/>
          <p:cNvSpPr/>
          <p:nvPr/>
        </p:nvSpPr>
        <p:spPr>
          <a:xfrm>
            <a:off x="6976097" y="2286328"/>
            <a:ext cx="3162900" cy="3009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850" u="none" cap="none" strike="noStrike">
                <a:solidFill>
                  <a:srgbClr val="3C3939"/>
                </a:solidFill>
                <a:latin typeface="Times New Roman"/>
                <a:ea typeface="Times New Roman"/>
                <a:cs typeface="Times New Roman"/>
                <a:sym typeface="Times New Roman"/>
              </a:rPr>
              <a:t>Chức năng – Nhiệm vụ</a:t>
            </a:r>
            <a:endParaRPr b="0" i="0" sz="1850" u="none" cap="none" strike="noStrike">
              <a:solidFill>
                <a:schemeClr val="dk1"/>
              </a:solidFill>
              <a:latin typeface="Times New Roman"/>
              <a:ea typeface="Times New Roman"/>
              <a:cs typeface="Times New Roman"/>
              <a:sym typeface="Times New Roman"/>
            </a:endParaRPr>
          </a:p>
        </p:txBody>
      </p:sp>
      <p:sp>
        <p:nvSpPr>
          <p:cNvPr id="302" name="Google Shape;302;p9"/>
          <p:cNvSpPr/>
          <p:nvPr/>
        </p:nvSpPr>
        <p:spPr>
          <a:xfrm>
            <a:off x="7033247" y="2749419"/>
            <a:ext cx="4869829" cy="3009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50" u="none" cap="none" strike="noStrike">
                <a:solidFill>
                  <a:srgbClr val="3C3939"/>
                </a:solidFill>
                <a:latin typeface="Times New Roman"/>
                <a:ea typeface="Times New Roman"/>
                <a:cs typeface="Times New Roman"/>
                <a:sym typeface="Times New Roman"/>
              </a:rPr>
              <a:t>Phát triển phần mềm</a:t>
            </a:r>
            <a:endParaRPr b="0" i="0" sz="1450" u="none" cap="none" strike="noStrike">
              <a:solidFill>
                <a:schemeClr val="dk1"/>
              </a:solidFill>
              <a:latin typeface="Times New Roman"/>
              <a:ea typeface="Times New Roman"/>
              <a:cs typeface="Times New Roman"/>
              <a:sym typeface="Times New Roman"/>
            </a:endParaRPr>
          </a:p>
        </p:txBody>
      </p:sp>
      <p:sp>
        <p:nvSpPr>
          <p:cNvPr id="303" name="Google Shape;303;p9"/>
          <p:cNvSpPr/>
          <p:nvPr/>
        </p:nvSpPr>
        <p:spPr>
          <a:xfrm>
            <a:off x="7033247" y="3115580"/>
            <a:ext cx="5158717" cy="489599"/>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Thiết kế, lập trình, triển khai phần mềm quản lý, website, ứng dụng.</a:t>
            </a:r>
            <a:endParaRPr b="0" i="0" sz="1400" u="none" cap="none" strike="noStrike">
              <a:solidFill>
                <a:schemeClr val="dk1"/>
              </a:solidFill>
              <a:latin typeface="Times New Roman"/>
              <a:ea typeface="Times New Roman"/>
              <a:cs typeface="Times New Roman"/>
              <a:sym typeface="Times New Roman"/>
            </a:endParaRPr>
          </a:p>
        </p:txBody>
      </p:sp>
      <p:sp>
        <p:nvSpPr>
          <p:cNvPr id="304" name="Google Shape;304;p9"/>
          <p:cNvSpPr/>
          <p:nvPr/>
        </p:nvSpPr>
        <p:spPr>
          <a:xfrm>
            <a:off x="7033234" y="3448553"/>
            <a:ext cx="4977779" cy="30075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Nghiên cứu &amp; ứng dụng công nghệ</a:t>
            </a:r>
            <a:endParaRPr b="0" i="0" sz="1400" u="none" cap="none" strike="noStrike">
              <a:solidFill>
                <a:schemeClr val="dk1"/>
              </a:solidFill>
              <a:latin typeface="Times New Roman"/>
              <a:ea typeface="Times New Roman"/>
              <a:cs typeface="Times New Roman"/>
              <a:sym typeface="Times New Roman"/>
            </a:endParaRPr>
          </a:p>
        </p:txBody>
      </p:sp>
      <p:sp>
        <p:nvSpPr>
          <p:cNvPr id="305" name="Google Shape;305;p9"/>
          <p:cNvSpPr/>
          <p:nvPr/>
        </p:nvSpPr>
        <p:spPr>
          <a:xfrm>
            <a:off x="7033211" y="3840136"/>
            <a:ext cx="5158753" cy="30075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Nghiên cứu, áp dụng công nghệ mới, nâng cao chất lượng hệ thống.</a:t>
            </a:r>
            <a:endParaRPr b="0" i="0" sz="1400" u="none" cap="none" strike="noStrike">
              <a:solidFill>
                <a:schemeClr val="dk1"/>
              </a:solidFill>
              <a:latin typeface="Times New Roman"/>
              <a:ea typeface="Times New Roman"/>
              <a:cs typeface="Times New Roman"/>
              <a:sym typeface="Times New Roman"/>
            </a:endParaRPr>
          </a:p>
        </p:txBody>
      </p:sp>
      <p:sp>
        <p:nvSpPr>
          <p:cNvPr id="306" name="Google Shape;306;p9"/>
          <p:cNvSpPr/>
          <p:nvPr/>
        </p:nvSpPr>
        <p:spPr>
          <a:xfrm>
            <a:off x="7033212" y="4201455"/>
            <a:ext cx="5158753" cy="30075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Đào tạo &amp; hướng dẫn sinh viên</a:t>
            </a:r>
            <a:endParaRPr b="0" i="0" sz="1400" u="none" cap="none" strike="noStrike">
              <a:solidFill>
                <a:schemeClr val="dk1"/>
              </a:solidFill>
              <a:latin typeface="Times New Roman"/>
              <a:ea typeface="Times New Roman"/>
              <a:cs typeface="Times New Roman"/>
              <a:sym typeface="Times New Roman"/>
            </a:endParaRPr>
          </a:p>
        </p:txBody>
      </p:sp>
      <p:sp>
        <p:nvSpPr>
          <p:cNvPr id="307" name="Google Shape;307;p9"/>
          <p:cNvSpPr/>
          <p:nvPr/>
        </p:nvSpPr>
        <p:spPr>
          <a:xfrm>
            <a:off x="7033213" y="4564379"/>
            <a:ext cx="4869864" cy="60150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Cung cấp môi trường thực hành, phát triển kỹ năng lập trình, quản lý dự án.</a:t>
            </a:r>
            <a:endParaRPr b="0" i="0" sz="1400" u="none" cap="none" strike="noStrike">
              <a:solidFill>
                <a:schemeClr val="dk1"/>
              </a:solidFill>
              <a:latin typeface="Times New Roman"/>
              <a:ea typeface="Times New Roman"/>
              <a:cs typeface="Times New Roman"/>
              <a:sym typeface="Times New Roman"/>
            </a:endParaRPr>
          </a:p>
        </p:txBody>
      </p:sp>
      <p:sp>
        <p:nvSpPr>
          <p:cNvPr id="308" name="Google Shape;308;p9"/>
          <p:cNvSpPr/>
          <p:nvPr/>
        </p:nvSpPr>
        <p:spPr>
          <a:xfrm>
            <a:off x="7033213" y="5286131"/>
            <a:ext cx="4977801" cy="30075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Tư vấn &amp; hỗ trợ kỹ thuật</a:t>
            </a:r>
            <a:endParaRPr b="0" i="0" sz="1400" u="none" cap="none" strike="noStrike">
              <a:solidFill>
                <a:schemeClr val="dk1"/>
              </a:solidFill>
              <a:latin typeface="Times New Roman"/>
              <a:ea typeface="Times New Roman"/>
              <a:cs typeface="Times New Roman"/>
              <a:sym typeface="Times New Roman"/>
            </a:endParaRPr>
          </a:p>
        </p:txBody>
      </p:sp>
      <p:sp>
        <p:nvSpPr>
          <p:cNvPr id="309" name="Google Shape;309;p9"/>
          <p:cNvSpPr/>
          <p:nvPr/>
        </p:nvSpPr>
        <p:spPr>
          <a:xfrm>
            <a:off x="7033224" y="5643729"/>
            <a:ext cx="4977790" cy="30075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Hỗ trợ triển khai, vận hành, bảo trì hệ thống phần mềm.</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0"/>
          <p:cNvSpPr/>
          <p:nvPr/>
        </p:nvSpPr>
        <p:spPr>
          <a:xfrm>
            <a:off x="285790" y="66574"/>
            <a:ext cx="11343300" cy="62010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1B1B27"/>
              </a:buClr>
              <a:buSzPts val="3900"/>
              <a:buFont typeface="Raleway"/>
              <a:buNone/>
            </a:pPr>
            <a:r>
              <a:rPr b="0" i="0" lang="en-US" sz="3200" u="none" cap="none" strike="noStrike">
                <a:solidFill>
                  <a:srgbClr val="1B1B27"/>
                </a:solidFill>
                <a:latin typeface="Times New Roman"/>
                <a:ea typeface="Times New Roman"/>
                <a:cs typeface="Times New Roman"/>
                <a:sym typeface="Times New Roman"/>
              </a:rPr>
              <a:t>Sản Phẩm, Dịch Vụ &amp; Cơ Cấu Tổ Chức CUSC</a:t>
            </a:r>
            <a:endParaRPr b="0" i="0" sz="3200" u="none" cap="none" strike="noStrike">
              <a:solidFill>
                <a:schemeClr val="dk1"/>
              </a:solidFill>
              <a:latin typeface="Times New Roman"/>
              <a:ea typeface="Times New Roman"/>
              <a:cs typeface="Times New Roman"/>
              <a:sym typeface="Times New Roman"/>
            </a:endParaRPr>
          </a:p>
        </p:txBody>
      </p:sp>
      <p:sp>
        <p:nvSpPr>
          <p:cNvPr id="315" name="Google Shape;315;p10"/>
          <p:cNvSpPr/>
          <p:nvPr/>
        </p:nvSpPr>
        <p:spPr>
          <a:xfrm>
            <a:off x="285790" y="1140864"/>
            <a:ext cx="11343300"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600" u="none" cap="none" strike="noStrike">
                <a:solidFill>
                  <a:srgbClr val="3C3939"/>
                </a:solidFill>
                <a:latin typeface="Times New Roman"/>
                <a:ea typeface="Times New Roman"/>
                <a:cs typeface="Times New Roman"/>
                <a:sym typeface="Times New Roman"/>
              </a:rPr>
              <a:t>CUSC hiện đang cung cấp các sản phẩm và dịch vụ đa dạng, đồng thời có một cơ cấu tổ chức rõ ràng để đảm bảo hoạt động hiệu quả.</a:t>
            </a:r>
            <a:endParaRPr b="0" i="0" sz="1600" u="none" cap="none" strike="noStrike">
              <a:solidFill>
                <a:schemeClr val="dk1"/>
              </a:solidFill>
              <a:latin typeface="Times New Roman"/>
              <a:ea typeface="Times New Roman"/>
              <a:cs typeface="Times New Roman"/>
              <a:sym typeface="Times New Roman"/>
            </a:endParaRPr>
          </a:p>
        </p:txBody>
      </p:sp>
      <p:sp>
        <p:nvSpPr>
          <p:cNvPr id="316" name="Google Shape;316;p10"/>
          <p:cNvSpPr/>
          <p:nvPr/>
        </p:nvSpPr>
        <p:spPr>
          <a:xfrm>
            <a:off x="285790" y="1607098"/>
            <a:ext cx="4679156"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1B1B27"/>
              </a:buClr>
              <a:buSzPts val="2300"/>
              <a:buFont typeface="Raleway"/>
              <a:buNone/>
            </a:pPr>
            <a:r>
              <a:rPr b="0" i="0" lang="en-US" sz="2300" u="none" cap="none" strike="noStrike">
                <a:solidFill>
                  <a:srgbClr val="1B1B27"/>
                </a:solidFill>
                <a:latin typeface="Times New Roman"/>
                <a:ea typeface="Times New Roman"/>
                <a:cs typeface="Times New Roman"/>
                <a:sym typeface="Times New Roman"/>
              </a:rPr>
              <a:t>Sản phẩm/dịch vụ đang cung cấp</a:t>
            </a:r>
            <a:endParaRPr b="0" i="0" sz="2300" u="none" cap="none" strike="noStrike">
              <a:solidFill>
                <a:schemeClr val="dk1"/>
              </a:solidFill>
              <a:latin typeface="Times New Roman"/>
              <a:ea typeface="Times New Roman"/>
              <a:cs typeface="Times New Roman"/>
              <a:sym typeface="Times New Roman"/>
            </a:endParaRPr>
          </a:p>
        </p:txBody>
      </p:sp>
      <p:sp>
        <p:nvSpPr>
          <p:cNvPr id="317" name="Google Shape;317;p10"/>
          <p:cNvSpPr/>
          <p:nvPr/>
        </p:nvSpPr>
        <p:spPr>
          <a:xfrm>
            <a:off x="285790" y="2177526"/>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Phần mềm quản lý học tập và giáo dục:</a:t>
            </a:r>
            <a:r>
              <a:rPr b="0" i="0" lang="en-US" sz="1400" u="none" cap="none" strike="noStrike">
                <a:solidFill>
                  <a:srgbClr val="3C3939"/>
                </a:solidFill>
                <a:latin typeface="Times New Roman"/>
                <a:ea typeface="Times New Roman"/>
                <a:cs typeface="Times New Roman"/>
                <a:sym typeface="Times New Roman"/>
              </a:rPr>
              <a:t> Hỗ trợ sinh viên và giảng viên quản lý thông tin học tập, đăng ký môn học, chấm điểm và báo cáo.</a:t>
            </a:r>
            <a:endParaRPr b="0" i="0" sz="1400" u="none" cap="none" strike="noStrike">
              <a:solidFill>
                <a:schemeClr val="dk1"/>
              </a:solidFill>
              <a:latin typeface="Times New Roman"/>
              <a:ea typeface="Times New Roman"/>
              <a:cs typeface="Times New Roman"/>
              <a:sym typeface="Times New Roman"/>
            </a:endParaRPr>
          </a:p>
        </p:txBody>
      </p:sp>
      <p:sp>
        <p:nvSpPr>
          <p:cNvPr id="318" name="Google Shape;318;p10"/>
          <p:cNvSpPr/>
          <p:nvPr/>
        </p:nvSpPr>
        <p:spPr>
          <a:xfrm>
            <a:off x="285790" y="3199559"/>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Ứng dụng di động &amp; website:</a:t>
            </a:r>
            <a:r>
              <a:rPr b="0" i="0" lang="en-US" sz="1400" u="none" cap="none" strike="noStrike">
                <a:solidFill>
                  <a:srgbClr val="3C3939"/>
                </a:solidFill>
                <a:latin typeface="Times New Roman"/>
                <a:ea typeface="Times New Roman"/>
                <a:cs typeface="Times New Roman"/>
                <a:sym typeface="Times New Roman"/>
              </a:rPr>
              <a:t> Phát triển các ứng dụng phục vụ học tập, nghiên cứu và quản lý dự án.</a:t>
            </a:r>
            <a:endParaRPr b="0" i="0" sz="1400" u="none" cap="none" strike="noStrike">
              <a:solidFill>
                <a:schemeClr val="dk1"/>
              </a:solidFill>
              <a:latin typeface="Times New Roman"/>
              <a:ea typeface="Times New Roman"/>
              <a:cs typeface="Times New Roman"/>
              <a:sym typeface="Times New Roman"/>
            </a:endParaRPr>
          </a:p>
        </p:txBody>
      </p:sp>
      <p:sp>
        <p:nvSpPr>
          <p:cNvPr id="319" name="Google Shape;319;p10"/>
          <p:cNvSpPr/>
          <p:nvPr/>
        </p:nvSpPr>
        <p:spPr>
          <a:xfrm>
            <a:off x="285790" y="3904052"/>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Dịch vụ tư vấn và hỗ trợ kỹ thuật:</a:t>
            </a:r>
            <a:r>
              <a:rPr b="0" i="0" lang="en-US" sz="1400" u="none" cap="none" strike="noStrike">
                <a:solidFill>
                  <a:srgbClr val="3C3939"/>
                </a:solidFill>
                <a:latin typeface="Times New Roman"/>
                <a:ea typeface="Times New Roman"/>
                <a:cs typeface="Times New Roman"/>
                <a:sym typeface="Times New Roman"/>
              </a:rPr>
              <a:t> Tư vấn triển khai hệ thống, hướng dẫn sử dụng phần mềm và bảo trì hệ thống CNTT.</a:t>
            </a:r>
            <a:endParaRPr b="0" i="0" sz="1400" u="none" cap="none" strike="noStrike">
              <a:solidFill>
                <a:schemeClr val="dk1"/>
              </a:solidFill>
              <a:latin typeface="Times New Roman"/>
              <a:ea typeface="Times New Roman"/>
              <a:cs typeface="Times New Roman"/>
              <a:sym typeface="Times New Roman"/>
            </a:endParaRPr>
          </a:p>
        </p:txBody>
      </p:sp>
      <p:sp>
        <p:nvSpPr>
          <p:cNvPr id="320" name="Google Shape;320;p10"/>
          <p:cNvSpPr/>
          <p:nvPr/>
        </p:nvSpPr>
        <p:spPr>
          <a:xfrm>
            <a:off x="7056874" y="1607098"/>
            <a:ext cx="2977039"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1B1B27"/>
              </a:buClr>
              <a:buSzPts val="2300"/>
              <a:buFont typeface="Raleway"/>
              <a:buNone/>
            </a:pPr>
            <a:r>
              <a:rPr b="0" i="0" lang="en-US" sz="2300" u="none" cap="none" strike="noStrike">
                <a:solidFill>
                  <a:srgbClr val="1B1B27"/>
                </a:solidFill>
                <a:latin typeface="Times New Roman"/>
                <a:ea typeface="Times New Roman"/>
                <a:cs typeface="Times New Roman"/>
                <a:sym typeface="Times New Roman"/>
              </a:rPr>
              <a:t>Sơ đồ tổ chức</a:t>
            </a:r>
            <a:endParaRPr b="0" i="0" sz="2300" u="none" cap="none" strike="noStrike">
              <a:solidFill>
                <a:schemeClr val="dk1"/>
              </a:solidFill>
              <a:latin typeface="Times New Roman"/>
              <a:ea typeface="Times New Roman"/>
              <a:cs typeface="Times New Roman"/>
              <a:sym typeface="Times New Roman"/>
            </a:endParaRPr>
          </a:p>
        </p:txBody>
      </p:sp>
      <p:sp>
        <p:nvSpPr>
          <p:cNvPr id="321" name="Google Shape;321;p10"/>
          <p:cNvSpPr/>
          <p:nvPr/>
        </p:nvSpPr>
        <p:spPr>
          <a:xfrm>
            <a:off x="7056874" y="2177526"/>
            <a:ext cx="5135126"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Giám đốc Trung tâm:</a:t>
            </a:r>
            <a:r>
              <a:rPr b="0" i="0" lang="en-US" sz="1400" u="none" cap="none" strike="noStrike">
                <a:solidFill>
                  <a:srgbClr val="3C3939"/>
                </a:solidFill>
                <a:latin typeface="Times New Roman"/>
                <a:ea typeface="Times New Roman"/>
                <a:cs typeface="Times New Roman"/>
                <a:sym typeface="Times New Roman"/>
              </a:rPr>
              <a:t> Quản lý tổng thể và lập kế hoạch chiến lược.</a:t>
            </a:r>
            <a:endParaRPr b="0" i="0" sz="1400" u="none" cap="none" strike="noStrike">
              <a:solidFill>
                <a:schemeClr val="dk1"/>
              </a:solidFill>
              <a:latin typeface="Times New Roman"/>
              <a:ea typeface="Times New Roman"/>
              <a:cs typeface="Times New Roman"/>
              <a:sym typeface="Times New Roman"/>
            </a:endParaRPr>
          </a:p>
        </p:txBody>
      </p:sp>
      <p:sp>
        <p:nvSpPr>
          <p:cNvPr id="322" name="Google Shape;322;p10"/>
          <p:cNvSpPr/>
          <p:nvPr/>
        </p:nvSpPr>
        <p:spPr>
          <a:xfrm>
            <a:off x="7056874" y="2648657"/>
            <a:ext cx="513512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Phó giám đốc / Trưởng phòng:</a:t>
            </a:r>
            <a:r>
              <a:rPr b="0" i="0" lang="en-US" sz="1400" u="none" cap="none" strike="noStrike">
                <a:solidFill>
                  <a:srgbClr val="3C3939"/>
                </a:solidFill>
                <a:latin typeface="Times New Roman"/>
                <a:ea typeface="Times New Roman"/>
                <a:cs typeface="Times New Roman"/>
                <a:sym typeface="Times New Roman"/>
              </a:rPr>
              <a:t> Hỗ trợ giám đốc quản lý các phòng ban và dự án.</a:t>
            </a:r>
            <a:endParaRPr b="0" i="0" sz="1400" u="none" cap="none" strike="noStrike">
              <a:solidFill>
                <a:schemeClr val="dk1"/>
              </a:solidFill>
              <a:latin typeface="Times New Roman"/>
              <a:ea typeface="Times New Roman"/>
              <a:cs typeface="Times New Roman"/>
              <a:sym typeface="Times New Roman"/>
            </a:endParaRPr>
          </a:p>
        </p:txBody>
      </p:sp>
      <p:sp>
        <p:nvSpPr>
          <p:cNvPr id="323" name="Google Shape;323;p10"/>
          <p:cNvSpPr/>
          <p:nvPr/>
        </p:nvSpPr>
        <p:spPr>
          <a:xfrm>
            <a:off x="7056874" y="3429000"/>
            <a:ext cx="507416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Các phòng ban chuyên môn:</a:t>
            </a:r>
            <a:r>
              <a:rPr b="0" i="0" lang="en-US" sz="1400" u="none" cap="none" strike="noStrike">
                <a:solidFill>
                  <a:srgbClr val="3C3939"/>
                </a:solidFill>
                <a:latin typeface="Times New Roman"/>
                <a:ea typeface="Times New Roman"/>
                <a:cs typeface="Times New Roman"/>
                <a:sym typeface="Times New Roman"/>
              </a:rPr>
              <a:t> Phát triển Phần mềm, Nghiên cứu &amp; Ứng dụng Công nghệ, Hỗ trợ kỹ thuật &amp; Dịch vụ.</a:t>
            </a:r>
            <a:endParaRPr b="0" i="0" sz="1400" u="none" cap="none" strike="noStrike">
              <a:solidFill>
                <a:schemeClr val="dk1"/>
              </a:solidFill>
              <a:latin typeface="Times New Roman"/>
              <a:ea typeface="Times New Roman"/>
              <a:cs typeface="Times New Roman"/>
              <a:sym typeface="Times New Roman"/>
            </a:endParaRPr>
          </a:p>
        </p:txBody>
      </p:sp>
      <p:sp>
        <p:nvSpPr>
          <p:cNvPr id="324" name="Google Shape;324;p10"/>
          <p:cNvSpPr/>
          <p:nvPr/>
        </p:nvSpPr>
        <p:spPr>
          <a:xfrm>
            <a:off x="7056874" y="4176824"/>
            <a:ext cx="507416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1" i="0" lang="en-US" sz="1400" u="none" cap="none" strike="noStrike">
                <a:solidFill>
                  <a:srgbClr val="3C3939"/>
                </a:solidFill>
                <a:latin typeface="Times New Roman"/>
                <a:ea typeface="Times New Roman"/>
                <a:cs typeface="Times New Roman"/>
                <a:sym typeface="Times New Roman"/>
              </a:rPr>
              <a:t>Nhân viên kỹ thuật &amp; thực tập sinh:</a:t>
            </a:r>
            <a:r>
              <a:rPr b="0" i="0" lang="en-US" sz="1400" u="none" cap="none" strike="noStrike">
                <a:solidFill>
                  <a:srgbClr val="3C3939"/>
                </a:solidFill>
                <a:latin typeface="Times New Roman"/>
                <a:ea typeface="Times New Roman"/>
                <a:cs typeface="Times New Roman"/>
                <a:sym typeface="Times New Roman"/>
              </a:rPr>
              <a:t> Tham gia thực hiện dự án, hỗ trợ các phòng ban chuyên môn.</a:t>
            </a:r>
            <a:endParaRPr b="0" i="0" sz="1400" u="none" cap="none" strike="noStrike">
              <a:solidFill>
                <a:schemeClr val="dk1"/>
              </a:solidFill>
              <a:latin typeface="Times New Roman"/>
              <a:ea typeface="Times New Roman"/>
              <a:cs typeface="Times New Roman"/>
              <a:sym typeface="Times New Roman"/>
            </a:endParaRPr>
          </a:p>
        </p:txBody>
      </p:sp>
      <p:sp>
        <p:nvSpPr>
          <p:cNvPr id="325" name="Google Shape;325;p10"/>
          <p:cNvSpPr/>
          <p:nvPr/>
        </p:nvSpPr>
        <p:spPr>
          <a:xfrm>
            <a:off x="285790" y="5064867"/>
            <a:ext cx="3967401" cy="372070"/>
          </a:xfrm>
          <a:prstGeom prst="rect">
            <a:avLst/>
          </a:prstGeom>
          <a:noFill/>
          <a:ln>
            <a:noFill/>
          </a:ln>
        </p:spPr>
        <p:txBody>
          <a:bodyPr anchorCtr="0" anchor="t" bIns="0" lIns="0" spcFirstLastPara="1" rIns="0" wrap="square" tIns="0">
            <a:noAutofit/>
          </a:bodyPr>
          <a:lstStyle/>
          <a:p>
            <a:pPr indent="0" lvl="0" marL="0" marR="0" rtl="0" algn="l">
              <a:lnSpc>
                <a:spcPct val="126086"/>
              </a:lnSpc>
              <a:spcBef>
                <a:spcPts val="0"/>
              </a:spcBef>
              <a:spcAft>
                <a:spcPts val="0"/>
              </a:spcAft>
              <a:buClr>
                <a:srgbClr val="1B1B27"/>
              </a:buClr>
              <a:buSzPts val="2300"/>
              <a:buFont typeface="Raleway"/>
              <a:buNone/>
            </a:pPr>
            <a:r>
              <a:rPr b="0" i="0" lang="en-US" sz="2300" u="none" cap="none" strike="noStrike">
                <a:solidFill>
                  <a:srgbClr val="1B1B27"/>
                </a:solidFill>
                <a:latin typeface="Times New Roman"/>
                <a:ea typeface="Times New Roman"/>
                <a:cs typeface="Times New Roman"/>
                <a:sym typeface="Times New Roman"/>
              </a:rPr>
              <a:t>Bộ phận thực tập &amp; nhiệm vụ</a:t>
            </a:r>
            <a:endParaRPr b="0" i="0" sz="2300" u="none" cap="none" strike="noStrike">
              <a:solidFill>
                <a:schemeClr val="dk1"/>
              </a:solidFill>
              <a:latin typeface="Times New Roman"/>
              <a:ea typeface="Times New Roman"/>
              <a:cs typeface="Times New Roman"/>
              <a:sym typeface="Times New Roman"/>
            </a:endParaRPr>
          </a:p>
        </p:txBody>
      </p:sp>
      <p:sp>
        <p:nvSpPr>
          <p:cNvPr id="326" name="Google Shape;326;p10"/>
          <p:cNvSpPr/>
          <p:nvPr/>
        </p:nvSpPr>
        <p:spPr>
          <a:xfrm>
            <a:off x="285791" y="5645341"/>
            <a:ext cx="11906210"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3C3939"/>
              </a:buClr>
              <a:buSzPts val="1550"/>
              <a:buFont typeface="Roboto"/>
              <a:buNone/>
            </a:pPr>
            <a:r>
              <a:rPr b="0" i="0" lang="en-US" sz="1400" u="none" cap="none" strike="noStrike">
                <a:solidFill>
                  <a:srgbClr val="3C3939"/>
                </a:solidFill>
                <a:latin typeface="Times New Roman"/>
                <a:ea typeface="Times New Roman"/>
                <a:cs typeface="Times New Roman"/>
                <a:sym typeface="Times New Roman"/>
              </a:rPr>
              <a:t>Trong thời gian thực tập, sinh viên được phân công vào Phòng Phát triển Phần mềm, với các nhiệm vụ cụ thể: học hỏi và tham gia phát triển các dự án phần mềm thực tế, thực hiện lập trình, viết code, kiểm thử, debug sản phẩm phần mềm, tham gia họp nhóm, báo cáo tiến độ công việc và làm quen với quy trình phát triển phần mềm chuyên nghiệp theo mô hình Agile/Scrum.</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1"/>
          <p:cNvSpPr/>
          <p:nvPr/>
        </p:nvSpPr>
        <p:spPr>
          <a:xfrm>
            <a:off x="181808" y="67743"/>
            <a:ext cx="9542100" cy="564600"/>
          </a:xfrm>
          <a:prstGeom prst="rect">
            <a:avLst/>
          </a:prstGeom>
          <a:noFill/>
          <a:ln>
            <a:noFill/>
          </a:ln>
        </p:spPr>
        <p:txBody>
          <a:bodyPr anchorCtr="0" anchor="t" bIns="0" lIns="0" spcFirstLastPara="1" rIns="0" wrap="square" tIns="0">
            <a:noAutofit/>
          </a:bodyPr>
          <a:lstStyle/>
          <a:p>
            <a:pPr indent="0" lvl="0" marL="0" marR="0" rtl="0" algn="l">
              <a:lnSpc>
                <a:spcPct val="123943"/>
              </a:lnSpc>
              <a:spcBef>
                <a:spcPts val="0"/>
              </a:spcBef>
              <a:spcAft>
                <a:spcPts val="0"/>
              </a:spcAft>
              <a:buClr>
                <a:srgbClr val="1B1B27"/>
              </a:buClr>
              <a:buSzPts val="3550"/>
              <a:buFont typeface="Raleway"/>
              <a:buNone/>
            </a:pPr>
            <a:r>
              <a:rPr b="0" i="0" lang="en-US" sz="3200" u="none" cap="none" strike="noStrike">
                <a:solidFill>
                  <a:srgbClr val="1B1B27"/>
                </a:solidFill>
                <a:latin typeface="Times New Roman"/>
                <a:ea typeface="Times New Roman"/>
                <a:cs typeface="Times New Roman"/>
                <a:sym typeface="Times New Roman"/>
              </a:rPr>
              <a:t>Nhiệm Vụ Chính &amp; Môi Trường Làm Việc</a:t>
            </a:r>
            <a:endParaRPr b="0" i="0" sz="3200" u="none" cap="none" strike="noStrike">
              <a:solidFill>
                <a:schemeClr val="dk1"/>
              </a:solidFill>
              <a:latin typeface="Times New Roman"/>
              <a:ea typeface="Times New Roman"/>
              <a:cs typeface="Times New Roman"/>
              <a:sym typeface="Times New Roman"/>
            </a:endParaRPr>
          </a:p>
        </p:txBody>
      </p:sp>
      <p:sp>
        <p:nvSpPr>
          <p:cNvPr id="332" name="Google Shape;332;p11"/>
          <p:cNvSpPr/>
          <p:nvPr/>
        </p:nvSpPr>
        <p:spPr>
          <a:xfrm>
            <a:off x="199787" y="1123611"/>
            <a:ext cx="11880229" cy="28908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0" i="0" lang="en-US" sz="1600" u="none" cap="none" strike="noStrike">
                <a:solidFill>
                  <a:srgbClr val="3C3939"/>
                </a:solidFill>
                <a:latin typeface="Times New Roman"/>
                <a:ea typeface="Times New Roman"/>
                <a:cs typeface="Times New Roman"/>
                <a:sym typeface="Times New Roman"/>
              </a:rPr>
              <a:t>Trong thời gian thực tập tại CUSC, tôi được phân công vào Phòng Phát triển Phần mềm với các nhiệm vụ và yêu cầu cụ thể.</a:t>
            </a:r>
            <a:endParaRPr b="0" i="0" sz="1600" u="none" cap="none" strike="noStrike">
              <a:solidFill>
                <a:schemeClr val="dk1"/>
              </a:solidFill>
              <a:latin typeface="Times New Roman"/>
              <a:ea typeface="Times New Roman"/>
              <a:cs typeface="Times New Roman"/>
              <a:sym typeface="Times New Roman"/>
            </a:endParaRPr>
          </a:p>
        </p:txBody>
      </p:sp>
      <p:sp>
        <p:nvSpPr>
          <p:cNvPr id="333" name="Google Shape;333;p11"/>
          <p:cNvSpPr/>
          <p:nvPr/>
        </p:nvSpPr>
        <p:spPr>
          <a:xfrm>
            <a:off x="181808" y="1796529"/>
            <a:ext cx="5489734" cy="3033236"/>
          </a:xfrm>
          <a:prstGeom prst="roundRect">
            <a:avLst>
              <a:gd fmla="val 3618" name="adj"/>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34" name="Google Shape;334;p11"/>
          <p:cNvSpPr/>
          <p:nvPr/>
        </p:nvSpPr>
        <p:spPr>
          <a:xfrm>
            <a:off x="199787" y="1773669"/>
            <a:ext cx="5327473" cy="91440"/>
          </a:xfrm>
          <a:prstGeom prst="roundRect">
            <a:avLst>
              <a:gd fmla="val 83015"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35" name="Google Shape;335;p11"/>
          <p:cNvSpPr/>
          <p:nvPr/>
        </p:nvSpPr>
        <p:spPr>
          <a:xfrm>
            <a:off x="2576833" y="1573639"/>
            <a:ext cx="444168" cy="542092"/>
          </a:xfrm>
          <a:prstGeom prst="roundRect">
            <a:avLst>
              <a:gd fmla="val 168680"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36" name="Google Shape;336;p11"/>
          <p:cNvSpPr/>
          <p:nvPr/>
        </p:nvSpPr>
        <p:spPr>
          <a:xfrm>
            <a:off x="2756720" y="1576137"/>
            <a:ext cx="177648" cy="27098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FFFFFF"/>
              </a:buClr>
              <a:buSzPts val="1700"/>
              <a:buFont typeface="Raleway"/>
              <a:buNone/>
            </a:pPr>
            <a:r>
              <a:rPr b="0" i="0" lang="en-US" sz="1700" u="none" cap="none" strike="noStrike">
                <a:solidFill>
                  <a:srgbClr val="FFFFFF"/>
                </a:solidFill>
                <a:latin typeface="Times New Roman"/>
                <a:ea typeface="Times New Roman"/>
                <a:cs typeface="Times New Roman"/>
                <a:sym typeface="Times New Roman"/>
              </a:rPr>
              <a:t>1</a:t>
            </a:r>
            <a:endParaRPr b="0" i="0" sz="1700" u="none" cap="none" strike="noStrike">
              <a:solidFill>
                <a:schemeClr val="dk1"/>
              </a:solidFill>
              <a:latin typeface="Times New Roman"/>
              <a:ea typeface="Times New Roman"/>
              <a:cs typeface="Times New Roman"/>
              <a:sym typeface="Times New Roman"/>
            </a:endParaRPr>
          </a:p>
        </p:txBody>
      </p:sp>
      <p:sp>
        <p:nvSpPr>
          <p:cNvPr id="337" name="Google Shape;337;p11"/>
          <p:cNvSpPr/>
          <p:nvPr/>
        </p:nvSpPr>
        <p:spPr>
          <a:xfrm>
            <a:off x="385286" y="2248252"/>
            <a:ext cx="1851007"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Times New Roman"/>
                <a:ea typeface="Times New Roman"/>
                <a:cs typeface="Times New Roman"/>
                <a:sym typeface="Times New Roman"/>
              </a:rPr>
              <a:t>Nhiệm vụ tổng quát</a:t>
            </a:r>
            <a:endParaRPr b="0" i="0" sz="1750" u="none" cap="none" strike="noStrike">
              <a:solidFill>
                <a:schemeClr val="dk1"/>
              </a:solidFill>
              <a:latin typeface="Times New Roman"/>
              <a:ea typeface="Times New Roman"/>
              <a:cs typeface="Times New Roman"/>
              <a:sym typeface="Times New Roman"/>
            </a:endParaRPr>
          </a:p>
        </p:txBody>
      </p:sp>
      <p:sp>
        <p:nvSpPr>
          <p:cNvPr id="338" name="Google Shape;338;p11"/>
          <p:cNvSpPr/>
          <p:nvPr/>
        </p:nvSpPr>
        <p:spPr>
          <a:xfrm>
            <a:off x="385286" y="2638896"/>
            <a:ext cx="4994031"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Tham gia phát triển dự án Teacher Management System.</a:t>
            </a:r>
            <a:endParaRPr b="0" i="0" sz="1400" u="none" cap="none" strike="noStrike">
              <a:solidFill>
                <a:schemeClr val="dk1"/>
              </a:solidFill>
              <a:latin typeface="Times New Roman"/>
              <a:ea typeface="Times New Roman"/>
              <a:cs typeface="Times New Roman"/>
              <a:sym typeface="Times New Roman"/>
            </a:endParaRPr>
          </a:p>
        </p:txBody>
      </p:sp>
      <p:sp>
        <p:nvSpPr>
          <p:cNvPr id="339" name="Google Shape;339;p11"/>
          <p:cNvSpPr/>
          <p:nvPr/>
        </p:nvSpPr>
        <p:spPr>
          <a:xfrm>
            <a:off x="385286" y="2991202"/>
            <a:ext cx="4994031" cy="578168"/>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Lập trình backend bằng Java Spring Boot, frontend bằng React+Vite, kết nối API và MySQL.</a:t>
            </a:r>
            <a:endParaRPr b="0" i="0" sz="1400" u="none" cap="none" strike="noStrike">
              <a:solidFill>
                <a:schemeClr val="dk1"/>
              </a:solidFill>
              <a:latin typeface="Times New Roman"/>
              <a:ea typeface="Times New Roman"/>
              <a:cs typeface="Times New Roman"/>
              <a:sym typeface="Times New Roman"/>
            </a:endParaRPr>
          </a:p>
        </p:txBody>
      </p:sp>
      <p:sp>
        <p:nvSpPr>
          <p:cNvPr id="340" name="Google Shape;340;p11"/>
          <p:cNvSpPr/>
          <p:nvPr/>
        </p:nvSpPr>
        <p:spPr>
          <a:xfrm>
            <a:off x="385286" y="3632592"/>
            <a:ext cx="4994031"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Kiểm thử, debug, xử lý lỗi và nâng cấp tính năng.</a:t>
            </a:r>
            <a:endParaRPr b="0" i="0" sz="1400" u="none" cap="none" strike="noStrike">
              <a:solidFill>
                <a:schemeClr val="dk1"/>
              </a:solidFill>
              <a:latin typeface="Times New Roman"/>
              <a:ea typeface="Times New Roman"/>
              <a:cs typeface="Times New Roman"/>
              <a:sym typeface="Times New Roman"/>
            </a:endParaRPr>
          </a:p>
        </p:txBody>
      </p:sp>
      <p:sp>
        <p:nvSpPr>
          <p:cNvPr id="341" name="Google Shape;341;p11"/>
          <p:cNvSpPr/>
          <p:nvPr/>
        </p:nvSpPr>
        <p:spPr>
          <a:xfrm>
            <a:off x="385286" y="3984898"/>
            <a:ext cx="4994031"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Thực hiện theo quy trình Agile – Scrum, tham gia họp nhóm.</a:t>
            </a:r>
            <a:endParaRPr b="0" i="0" sz="1400" u="none" cap="none" strike="noStrike">
              <a:solidFill>
                <a:schemeClr val="dk1"/>
              </a:solidFill>
              <a:latin typeface="Times New Roman"/>
              <a:ea typeface="Times New Roman"/>
              <a:cs typeface="Times New Roman"/>
              <a:sym typeface="Times New Roman"/>
            </a:endParaRPr>
          </a:p>
        </p:txBody>
      </p:sp>
      <p:sp>
        <p:nvSpPr>
          <p:cNvPr id="342" name="Google Shape;342;p11"/>
          <p:cNvSpPr/>
          <p:nvPr/>
        </p:nvSpPr>
        <p:spPr>
          <a:xfrm>
            <a:off x="385286" y="4337204"/>
            <a:ext cx="5489734"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Tìm hiểu và áp dụng các công nghệ bổ trợ như Docker, XAMPP, Git.</a:t>
            </a:r>
            <a:endParaRPr b="0" i="0" sz="1400" u="none" cap="none" strike="noStrike">
              <a:solidFill>
                <a:schemeClr val="dk1"/>
              </a:solidFill>
              <a:latin typeface="Times New Roman"/>
              <a:ea typeface="Times New Roman"/>
              <a:cs typeface="Times New Roman"/>
              <a:sym typeface="Times New Roman"/>
            </a:endParaRPr>
          </a:p>
        </p:txBody>
      </p:sp>
      <p:sp>
        <p:nvSpPr>
          <p:cNvPr id="343" name="Google Shape;343;p11"/>
          <p:cNvSpPr/>
          <p:nvPr/>
        </p:nvSpPr>
        <p:spPr>
          <a:xfrm>
            <a:off x="6864430" y="1796529"/>
            <a:ext cx="5127784" cy="3033236"/>
          </a:xfrm>
          <a:prstGeom prst="roundRect">
            <a:avLst>
              <a:gd fmla="val 3618" name="adj"/>
            </a:avLst>
          </a:prstGeom>
          <a:solidFill>
            <a:srgbClr val="FFFFFF">
              <a:alpha val="94509"/>
            </a:srgbClr>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44" name="Google Shape;344;p11"/>
          <p:cNvSpPr/>
          <p:nvPr/>
        </p:nvSpPr>
        <p:spPr>
          <a:xfrm>
            <a:off x="6864430" y="1773669"/>
            <a:ext cx="5127784" cy="100956"/>
          </a:xfrm>
          <a:prstGeom prst="roundRect">
            <a:avLst>
              <a:gd fmla="val 83015"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45" name="Google Shape;345;p11"/>
          <p:cNvSpPr/>
          <p:nvPr/>
        </p:nvSpPr>
        <p:spPr>
          <a:xfrm>
            <a:off x="9279740" y="1538516"/>
            <a:ext cx="444168" cy="542092"/>
          </a:xfrm>
          <a:prstGeom prst="roundRect">
            <a:avLst>
              <a:gd fmla="val 168680" name="adj"/>
            </a:avLst>
          </a:prstGeom>
          <a:solidFill>
            <a:srgbClr val="1B1B27"/>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46" name="Google Shape;346;p11"/>
          <p:cNvSpPr/>
          <p:nvPr/>
        </p:nvSpPr>
        <p:spPr>
          <a:xfrm>
            <a:off x="9438599" y="1567939"/>
            <a:ext cx="177648" cy="27098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FFFFFF"/>
              </a:buClr>
              <a:buSzPts val="1700"/>
              <a:buFont typeface="Raleway"/>
              <a:buNone/>
            </a:pPr>
            <a:r>
              <a:rPr b="0" i="0" lang="en-US" sz="1700" u="none" cap="none" strike="noStrike">
                <a:solidFill>
                  <a:srgbClr val="FFFFFF"/>
                </a:solidFill>
                <a:latin typeface="Times New Roman"/>
                <a:ea typeface="Times New Roman"/>
                <a:cs typeface="Times New Roman"/>
                <a:sym typeface="Times New Roman"/>
              </a:rPr>
              <a:t>2</a:t>
            </a:r>
            <a:endParaRPr b="0" i="0" sz="1700" u="none" cap="none" strike="noStrike">
              <a:solidFill>
                <a:schemeClr val="dk1"/>
              </a:solidFill>
              <a:latin typeface="Times New Roman"/>
              <a:ea typeface="Times New Roman"/>
              <a:cs typeface="Times New Roman"/>
              <a:sym typeface="Times New Roman"/>
            </a:endParaRPr>
          </a:p>
        </p:txBody>
      </p:sp>
      <p:sp>
        <p:nvSpPr>
          <p:cNvPr id="347" name="Google Shape;347;p11"/>
          <p:cNvSpPr/>
          <p:nvPr/>
        </p:nvSpPr>
        <p:spPr>
          <a:xfrm>
            <a:off x="7067908" y="2248252"/>
            <a:ext cx="3066692" cy="28229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0" i="0" lang="en-US" sz="1750" u="none" cap="none" strike="noStrike">
                <a:solidFill>
                  <a:srgbClr val="3C3939"/>
                </a:solidFill>
                <a:latin typeface="Times New Roman"/>
                <a:ea typeface="Times New Roman"/>
                <a:cs typeface="Times New Roman"/>
                <a:sym typeface="Times New Roman"/>
              </a:rPr>
              <a:t>Yêu cầu từ doanh nghiệp</a:t>
            </a:r>
            <a:endParaRPr b="0" i="0" sz="1750" u="none" cap="none" strike="noStrike">
              <a:solidFill>
                <a:schemeClr val="dk1"/>
              </a:solidFill>
              <a:latin typeface="Times New Roman"/>
              <a:ea typeface="Times New Roman"/>
              <a:cs typeface="Times New Roman"/>
              <a:sym typeface="Times New Roman"/>
            </a:endParaRPr>
          </a:p>
        </p:txBody>
      </p:sp>
      <p:sp>
        <p:nvSpPr>
          <p:cNvPr id="348" name="Google Shape;348;p11"/>
          <p:cNvSpPr/>
          <p:nvPr/>
        </p:nvSpPr>
        <p:spPr>
          <a:xfrm>
            <a:off x="7067907" y="2638896"/>
            <a:ext cx="4590693"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Tuân thủ nội quy, quy định và hướng dẫn.</a:t>
            </a:r>
            <a:endParaRPr b="0" i="0" sz="1400" u="none" cap="none" strike="noStrike">
              <a:solidFill>
                <a:schemeClr val="dk1"/>
              </a:solidFill>
              <a:latin typeface="Times New Roman"/>
              <a:ea typeface="Times New Roman"/>
              <a:cs typeface="Times New Roman"/>
              <a:sym typeface="Times New Roman"/>
            </a:endParaRPr>
          </a:p>
        </p:txBody>
      </p:sp>
      <p:sp>
        <p:nvSpPr>
          <p:cNvPr id="349" name="Google Shape;349;p11"/>
          <p:cNvSpPr/>
          <p:nvPr/>
        </p:nvSpPr>
        <p:spPr>
          <a:xfrm>
            <a:off x="7067907" y="2991202"/>
            <a:ext cx="4590693"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Hoàn thành nhiệm vụ đúng tiến độ và đảm bảo chất lượng.</a:t>
            </a:r>
            <a:endParaRPr b="0" i="0" sz="1400" u="none" cap="none" strike="noStrike">
              <a:solidFill>
                <a:schemeClr val="dk1"/>
              </a:solidFill>
              <a:latin typeface="Times New Roman"/>
              <a:ea typeface="Times New Roman"/>
              <a:cs typeface="Times New Roman"/>
              <a:sym typeface="Times New Roman"/>
            </a:endParaRPr>
          </a:p>
        </p:txBody>
      </p:sp>
      <p:sp>
        <p:nvSpPr>
          <p:cNvPr id="350" name="Google Shape;350;p11"/>
          <p:cNvSpPr/>
          <p:nvPr/>
        </p:nvSpPr>
        <p:spPr>
          <a:xfrm>
            <a:off x="7067907" y="3343508"/>
            <a:ext cx="4804053"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Chủ động học hỏi, tiếp thu kiến thức mới.</a:t>
            </a:r>
            <a:endParaRPr b="0" i="0" sz="1400" u="none" cap="none" strike="noStrike">
              <a:solidFill>
                <a:schemeClr val="dk1"/>
              </a:solidFill>
              <a:latin typeface="Times New Roman"/>
              <a:ea typeface="Times New Roman"/>
              <a:cs typeface="Times New Roman"/>
              <a:sym typeface="Times New Roman"/>
            </a:endParaRPr>
          </a:p>
        </p:txBody>
      </p:sp>
      <p:sp>
        <p:nvSpPr>
          <p:cNvPr id="351" name="Google Shape;351;p11"/>
          <p:cNvSpPr/>
          <p:nvPr/>
        </p:nvSpPr>
        <p:spPr>
          <a:xfrm>
            <a:off x="7067907" y="3695814"/>
            <a:ext cx="4924307" cy="289084"/>
          </a:xfrm>
          <a:prstGeom prst="rect">
            <a:avLst/>
          </a:prstGeom>
          <a:noFill/>
          <a:ln>
            <a:noFill/>
          </a:ln>
        </p:spPr>
        <p:txBody>
          <a:bodyPr anchorCtr="0" anchor="t" bIns="0" lIns="0" spcFirstLastPara="1" rIns="0" wrap="square" tIns="0">
            <a:noAutofit/>
          </a:bodyPr>
          <a:lstStyle/>
          <a:p>
            <a:pPr indent="-342900" lvl="0" marL="342900" marR="0" rtl="0" algn="l">
              <a:lnSpc>
                <a:spcPct val="160714"/>
              </a:lnSpc>
              <a:spcBef>
                <a:spcPts val="0"/>
              </a:spcBef>
              <a:spcAft>
                <a:spcPts val="0"/>
              </a:spcAft>
              <a:buClr>
                <a:srgbClr val="3C3939"/>
              </a:buClr>
              <a:buSzPts val="1400"/>
              <a:buFont typeface="Roboto"/>
              <a:buChar char="•"/>
            </a:pPr>
            <a:r>
              <a:rPr b="0" i="0" lang="en-US" sz="1400" u="none" cap="none" strike="noStrike">
                <a:solidFill>
                  <a:srgbClr val="3C3939"/>
                </a:solidFill>
                <a:latin typeface="Times New Roman"/>
                <a:ea typeface="Times New Roman"/>
                <a:cs typeface="Times New Roman"/>
                <a:sym typeface="Times New Roman"/>
              </a:rPr>
              <a:t>Tham gia làm việc nhóm hiệu quả, giữ thái độ chuyên nghiệp.</a:t>
            </a:r>
            <a:endParaRPr b="0" i="0" sz="1400" u="none" cap="none" strike="noStrike">
              <a:solidFill>
                <a:schemeClr val="dk1"/>
              </a:solidFill>
              <a:latin typeface="Times New Roman"/>
              <a:ea typeface="Times New Roman"/>
              <a:cs typeface="Times New Roman"/>
              <a:sym typeface="Times New Roman"/>
            </a:endParaRPr>
          </a:p>
        </p:txBody>
      </p:sp>
      <p:sp>
        <p:nvSpPr>
          <p:cNvPr id="352" name="Google Shape;352;p11"/>
          <p:cNvSpPr/>
          <p:nvPr/>
        </p:nvSpPr>
        <p:spPr>
          <a:xfrm>
            <a:off x="199787" y="4858579"/>
            <a:ext cx="3955613" cy="338852"/>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1B1B27"/>
              </a:buClr>
              <a:buSzPts val="2100"/>
              <a:buFont typeface="Raleway"/>
              <a:buNone/>
            </a:pPr>
            <a:r>
              <a:rPr b="0" i="0" lang="en-US" sz="2300" u="none" cap="none" strike="noStrike">
                <a:solidFill>
                  <a:srgbClr val="1B1B27"/>
                </a:solidFill>
                <a:latin typeface="Times New Roman"/>
                <a:ea typeface="Times New Roman"/>
                <a:cs typeface="Times New Roman"/>
                <a:sym typeface="Times New Roman"/>
              </a:rPr>
              <a:t>Công cụ và môi trường làm việc</a:t>
            </a:r>
            <a:endParaRPr b="0" i="0" sz="2300" u="none" cap="none" strike="noStrike">
              <a:solidFill>
                <a:schemeClr val="dk1"/>
              </a:solidFill>
              <a:latin typeface="Times New Roman"/>
              <a:ea typeface="Times New Roman"/>
              <a:cs typeface="Times New Roman"/>
              <a:sym typeface="Times New Roman"/>
            </a:endParaRPr>
          </a:p>
        </p:txBody>
      </p:sp>
      <p:sp>
        <p:nvSpPr>
          <p:cNvPr id="353" name="Google Shape;353;p11"/>
          <p:cNvSpPr/>
          <p:nvPr/>
        </p:nvSpPr>
        <p:spPr>
          <a:xfrm>
            <a:off x="199787" y="5281863"/>
            <a:ext cx="4047291" cy="28908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1" i="0" lang="en-US" sz="1400" u="none" cap="none" strike="noStrike">
                <a:solidFill>
                  <a:srgbClr val="3C3939"/>
                </a:solidFill>
                <a:latin typeface="Times New Roman"/>
                <a:ea typeface="Times New Roman"/>
                <a:cs typeface="Times New Roman"/>
                <a:sym typeface="Times New Roman"/>
              </a:rPr>
              <a:t>Ngôn ngữ lập trình:</a:t>
            </a:r>
            <a:r>
              <a:rPr b="0" i="0" lang="en-US" sz="1400" u="none" cap="none" strike="noStrike">
                <a:solidFill>
                  <a:srgbClr val="3C3939"/>
                </a:solidFill>
                <a:latin typeface="Times New Roman"/>
                <a:ea typeface="Times New Roman"/>
                <a:cs typeface="Times New Roman"/>
                <a:sym typeface="Times New Roman"/>
              </a:rPr>
              <a:t> Java, JavaScript</a:t>
            </a:r>
            <a:endParaRPr b="0" i="0" sz="1400" u="none" cap="none" strike="noStrike">
              <a:solidFill>
                <a:schemeClr val="dk1"/>
              </a:solidFill>
              <a:latin typeface="Times New Roman"/>
              <a:ea typeface="Times New Roman"/>
              <a:cs typeface="Times New Roman"/>
              <a:sym typeface="Times New Roman"/>
            </a:endParaRPr>
          </a:p>
        </p:txBody>
      </p:sp>
      <p:sp>
        <p:nvSpPr>
          <p:cNvPr id="354" name="Google Shape;354;p11"/>
          <p:cNvSpPr/>
          <p:nvPr/>
        </p:nvSpPr>
        <p:spPr>
          <a:xfrm>
            <a:off x="199787" y="5661545"/>
            <a:ext cx="3551992" cy="28908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1" i="0" lang="en-US" sz="1400" u="none" cap="none" strike="noStrike">
                <a:solidFill>
                  <a:srgbClr val="3C3939"/>
                </a:solidFill>
                <a:latin typeface="Times New Roman"/>
                <a:ea typeface="Times New Roman"/>
                <a:cs typeface="Times New Roman"/>
                <a:sym typeface="Times New Roman"/>
              </a:rPr>
              <a:t>Framework:</a:t>
            </a:r>
            <a:r>
              <a:rPr b="0" i="0" lang="en-US" sz="1400" u="none" cap="none" strike="noStrike">
                <a:solidFill>
                  <a:srgbClr val="3C3939"/>
                </a:solidFill>
                <a:latin typeface="Times New Roman"/>
                <a:ea typeface="Times New Roman"/>
                <a:cs typeface="Times New Roman"/>
                <a:sym typeface="Times New Roman"/>
              </a:rPr>
              <a:t> Spring Boot, React+Vite</a:t>
            </a:r>
            <a:endParaRPr b="0" i="0" sz="1400" u="none" cap="none" strike="noStrike">
              <a:solidFill>
                <a:schemeClr val="dk1"/>
              </a:solidFill>
              <a:latin typeface="Times New Roman"/>
              <a:ea typeface="Times New Roman"/>
              <a:cs typeface="Times New Roman"/>
              <a:sym typeface="Times New Roman"/>
            </a:endParaRPr>
          </a:p>
        </p:txBody>
      </p:sp>
      <p:sp>
        <p:nvSpPr>
          <p:cNvPr id="355" name="Google Shape;355;p11"/>
          <p:cNvSpPr/>
          <p:nvPr/>
        </p:nvSpPr>
        <p:spPr>
          <a:xfrm>
            <a:off x="199787" y="6026842"/>
            <a:ext cx="4555093" cy="28908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1" i="0" lang="en-US" sz="1400" u="none" cap="none" strike="noStrike">
                <a:solidFill>
                  <a:srgbClr val="3C3939"/>
                </a:solidFill>
                <a:latin typeface="Times New Roman"/>
                <a:ea typeface="Times New Roman"/>
                <a:cs typeface="Times New Roman"/>
                <a:sym typeface="Times New Roman"/>
              </a:rPr>
              <a:t>Database:</a:t>
            </a:r>
            <a:r>
              <a:rPr b="0" i="0" lang="en-US" sz="1400" u="none" cap="none" strike="noStrike">
                <a:solidFill>
                  <a:srgbClr val="3C3939"/>
                </a:solidFill>
                <a:latin typeface="Times New Roman"/>
                <a:ea typeface="Times New Roman"/>
                <a:cs typeface="Times New Roman"/>
                <a:sym typeface="Times New Roman"/>
              </a:rPr>
              <a:t> MySQL, Redis</a:t>
            </a:r>
            <a:endParaRPr b="0" i="0" sz="1400" u="none" cap="none" strike="noStrike">
              <a:solidFill>
                <a:schemeClr val="dk1"/>
              </a:solidFill>
              <a:latin typeface="Times New Roman"/>
              <a:ea typeface="Times New Roman"/>
              <a:cs typeface="Times New Roman"/>
              <a:sym typeface="Times New Roman"/>
            </a:endParaRPr>
          </a:p>
        </p:txBody>
      </p:sp>
      <p:sp>
        <p:nvSpPr>
          <p:cNvPr id="356" name="Google Shape;356;p11"/>
          <p:cNvSpPr/>
          <p:nvPr/>
        </p:nvSpPr>
        <p:spPr>
          <a:xfrm>
            <a:off x="199787" y="6348731"/>
            <a:ext cx="4867513" cy="289084"/>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3C3939"/>
              </a:buClr>
              <a:buSzPts val="1400"/>
              <a:buFont typeface="Roboto"/>
              <a:buNone/>
            </a:pPr>
            <a:r>
              <a:rPr b="1" i="0" lang="en-US" sz="1400" u="none" cap="none" strike="noStrike">
                <a:solidFill>
                  <a:srgbClr val="3C3939"/>
                </a:solidFill>
                <a:latin typeface="Times New Roman"/>
                <a:ea typeface="Times New Roman"/>
                <a:cs typeface="Times New Roman"/>
                <a:sym typeface="Times New Roman"/>
              </a:rPr>
              <a:t>IDE &amp; công cụ:</a:t>
            </a:r>
            <a:r>
              <a:rPr b="0" i="0" lang="en-US" sz="1400" u="none" cap="none" strike="noStrike">
                <a:solidFill>
                  <a:srgbClr val="3C3939"/>
                </a:solidFill>
                <a:latin typeface="Times New Roman"/>
                <a:ea typeface="Times New Roman"/>
                <a:cs typeface="Times New Roman"/>
                <a:sym typeface="Times New Roman"/>
              </a:rPr>
              <a:t> IntelliJ IDEA, VS Code</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2"/>
          <p:cNvSpPr/>
          <p:nvPr/>
        </p:nvSpPr>
        <p:spPr>
          <a:xfrm>
            <a:off x="6200477" y="5357672"/>
            <a:ext cx="5961248" cy="1353678"/>
          </a:xfrm>
          <a:prstGeom prst="roundRect">
            <a:avLst>
              <a:gd fmla="val 5706" name="adj"/>
            </a:avLst>
          </a:prstGeom>
          <a:solidFill>
            <a:srgbClr val="E1E1E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62" name="Google Shape;362;p12"/>
          <p:cNvSpPr/>
          <p:nvPr/>
        </p:nvSpPr>
        <p:spPr>
          <a:xfrm>
            <a:off x="208955" y="0"/>
            <a:ext cx="6810732" cy="594836"/>
          </a:xfrm>
          <a:prstGeom prst="rect">
            <a:avLst/>
          </a:prstGeom>
          <a:noFill/>
          <a:ln>
            <a:noFill/>
          </a:ln>
        </p:spPr>
        <p:txBody>
          <a:bodyPr anchorCtr="0" anchor="t" bIns="0" lIns="0" spcFirstLastPara="1" rIns="0" wrap="square" tIns="0">
            <a:noAutofit/>
          </a:bodyPr>
          <a:lstStyle/>
          <a:p>
            <a:pPr indent="0" lvl="0" marL="0" marR="0" rtl="0" algn="l">
              <a:lnSpc>
                <a:spcPct val="125675"/>
              </a:lnSpc>
              <a:spcBef>
                <a:spcPts val="0"/>
              </a:spcBef>
              <a:spcAft>
                <a:spcPts val="0"/>
              </a:spcAft>
              <a:buClr>
                <a:srgbClr val="1B1B27"/>
              </a:buClr>
              <a:buSzPts val="3700"/>
              <a:buFont typeface="Raleway"/>
              <a:buNone/>
            </a:pPr>
            <a:r>
              <a:rPr b="0" i="0" lang="en-US" sz="3700" u="none" cap="none" strike="noStrike">
                <a:solidFill>
                  <a:srgbClr val="1B1B27"/>
                </a:solidFill>
                <a:latin typeface="Times New Roman"/>
                <a:ea typeface="Times New Roman"/>
                <a:cs typeface="Times New Roman"/>
                <a:sym typeface="Times New Roman"/>
              </a:rPr>
              <a:t>Thời Gian &amp; Mục Tiêu Thực Tập</a:t>
            </a:r>
            <a:endParaRPr b="0" i="0" sz="3700" u="none" cap="none" strike="noStrike">
              <a:solidFill>
                <a:schemeClr val="dk1"/>
              </a:solidFill>
              <a:latin typeface="Times New Roman"/>
              <a:ea typeface="Times New Roman"/>
              <a:cs typeface="Times New Roman"/>
              <a:sym typeface="Times New Roman"/>
            </a:endParaRPr>
          </a:p>
        </p:txBody>
      </p:sp>
      <p:sp>
        <p:nvSpPr>
          <p:cNvPr id="363" name="Google Shape;363;p12"/>
          <p:cNvSpPr/>
          <p:nvPr/>
        </p:nvSpPr>
        <p:spPr>
          <a:xfrm>
            <a:off x="245764" y="1140486"/>
            <a:ext cx="11952770" cy="304562"/>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600" u="none" cap="none" strike="noStrike">
                <a:solidFill>
                  <a:srgbClr val="3C3939"/>
                </a:solidFill>
                <a:latin typeface="Times New Roman"/>
                <a:ea typeface="Times New Roman"/>
                <a:cs typeface="Times New Roman"/>
                <a:sym typeface="Times New Roman"/>
              </a:rPr>
              <a:t>Thời gian thực tập kéo dài từ 8–12 tuần, theo kế hoạch của CUSC và trường. Mục tiêu chính là phát triển toàn diện kỹ năng chuyên môn và mềm.</a:t>
            </a:r>
            <a:endParaRPr b="0" i="0" sz="1600" u="none" cap="none" strike="noStrike">
              <a:solidFill>
                <a:schemeClr val="dk1"/>
              </a:solidFill>
              <a:latin typeface="Times New Roman"/>
              <a:ea typeface="Times New Roman"/>
              <a:cs typeface="Times New Roman"/>
              <a:sym typeface="Times New Roman"/>
            </a:endParaRPr>
          </a:p>
        </p:txBody>
      </p:sp>
      <p:sp>
        <p:nvSpPr>
          <p:cNvPr id="364" name="Google Shape;364;p12"/>
          <p:cNvSpPr/>
          <p:nvPr/>
        </p:nvSpPr>
        <p:spPr>
          <a:xfrm>
            <a:off x="243757" y="1639201"/>
            <a:ext cx="2992555" cy="571024"/>
          </a:xfrm>
          <a:prstGeom prst="roundRect">
            <a:avLst>
              <a:gd fmla="val 48006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65" name="Google Shape;365;p12"/>
          <p:cNvSpPr/>
          <p:nvPr/>
        </p:nvSpPr>
        <p:spPr>
          <a:xfrm>
            <a:off x="1605322" y="1722486"/>
            <a:ext cx="201402" cy="3568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2200"/>
              <a:buFont typeface="Raleway"/>
              <a:buNone/>
            </a:pPr>
            <a:r>
              <a:rPr b="0" i="0" lang="en-US" sz="2200" u="none" cap="none" strike="noStrike">
                <a:solidFill>
                  <a:srgbClr val="3C3939"/>
                </a:solidFill>
                <a:latin typeface="Times New Roman"/>
                <a:ea typeface="Times New Roman"/>
                <a:cs typeface="Times New Roman"/>
                <a:sym typeface="Times New Roman"/>
              </a:rPr>
              <a:t>1</a:t>
            </a:r>
            <a:endParaRPr b="0" i="0" sz="2200" u="none" cap="none" strike="noStrike">
              <a:solidFill>
                <a:schemeClr val="dk1"/>
              </a:solidFill>
              <a:latin typeface="Times New Roman"/>
              <a:ea typeface="Times New Roman"/>
              <a:cs typeface="Times New Roman"/>
              <a:sym typeface="Times New Roman"/>
            </a:endParaRPr>
          </a:p>
        </p:txBody>
      </p:sp>
      <p:sp>
        <p:nvSpPr>
          <p:cNvPr id="366" name="Google Shape;366;p12"/>
          <p:cNvSpPr/>
          <p:nvPr/>
        </p:nvSpPr>
        <p:spPr>
          <a:xfrm>
            <a:off x="407144" y="2318697"/>
            <a:ext cx="2544008" cy="29741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850" u="none" cap="none" strike="noStrike">
                <a:solidFill>
                  <a:srgbClr val="3C3939"/>
                </a:solidFill>
                <a:latin typeface="Times New Roman"/>
                <a:ea typeface="Times New Roman"/>
                <a:cs typeface="Times New Roman"/>
                <a:sym typeface="Times New Roman"/>
              </a:rPr>
              <a:t>Nắm vững quy trình</a:t>
            </a:r>
            <a:endParaRPr b="0" i="0" sz="1850" u="none" cap="none" strike="noStrike">
              <a:solidFill>
                <a:schemeClr val="dk1"/>
              </a:solidFill>
              <a:latin typeface="Times New Roman"/>
              <a:ea typeface="Times New Roman"/>
              <a:cs typeface="Times New Roman"/>
              <a:sym typeface="Times New Roman"/>
            </a:endParaRPr>
          </a:p>
        </p:txBody>
      </p:sp>
      <p:sp>
        <p:nvSpPr>
          <p:cNvPr id="367" name="Google Shape;367;p12"/>
          <p:cNvSpPr/>
          <p:nvPr/>
        </p:nvSpPr>
        <p:spPr>
          <a:xfrm>
            <a:off x="407144" y="2730296"/>
            <a:ext cx="3448883" cy="60912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50" u="none" cap="none" strike="noStrike">
                <a:solidFill>
                  <a:srgbClr val="3C3939"/>
                </a:solidFill>
                <a:latin typeface="Times New Roman"/>
                <a:ea typeface="Times New Roman"/>
                <a:cs typeface="Times New Roman"/>
                <a:sym typeface="Times New Roman"/>
              </a:rPr>
              <a:t>Hiểu rõ quy trình phát triển phần mềm chuyên nghiệp từ phân tích đến triển khai.</a:t>
            </a:r>
            <a:endParaRPr b="0" i="0" sz="1450" u="none" cap="none" strike="noStrike">
              <a:solidFill>
                <a:schemeClr val="dk1"/>
              </a:solidFill>
              <a:latin typeface="Times New Roman"/>
              <a:ea typeface="Times New Roman"/>
              <a:cs typeface="Times New Roman"/>
              <a:sym typeface="Times New Roman"/>
            </a:endParaRPr>
          </a:p>
        </p:txBody>
      </p:sp>
      <p:sp>
        <p:nvSpPr>
          <p:cNvPr id="368" name="Google Shape;368;p12"/>
          <p:cNvSpPr/>
          <p:nvPr/>
        </p:nvSpPr>
        <p:spPr>
          <a:xfrm>
            <a:off x="4378910" y="1641779"/>
            <a:ext cx="2992555" cy="571024"/>
          </a:xfrm>
          <a:prstGeom prst="roundRect">
            <a:avLst>
              <a:gd fmla="val 48006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69" name="Google Shape;369;p12"/>
          <p:cNvSpPr/>
          <p:nvPr/>
        </p:nvSpPr>
        <p:spPr>
          <a:xfrm>
            <a:off x="5875187" y="1715599"/>
            <a:ext cx="201402" cy="3568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2200"/>
              <a:buFont typeface="Raleway"/>
              <a:buNone/>
            </a:pPr>
            <a:r>
              <a:rPr b="0" i="0" lang="en-US" sz="2200" u="none" cap="none" strike="noStrike">
                <a:solidFill>
                  <a:srgbClr val="3C3939"/>
                </a:solidFill>
                <a:latin typeface="Times New Roman"/>
                <a:ea typeface="Times New Roman"/>
                <a:cs typeface="Times New Roman"/>
                <a:sym typeface="Times New Roman"/>
              </a:rPr>
              <a:t>2</a:t>
            </a:r>
            <a:endParaRPr b="0" i="0" sz="2200" u="none" cap="none" strike="noStrike">
              <a:solidFill>
                <a:schemeClr val="dk1"/>
              </a:solidFill>
              <a:latin typeface="Times New Roman"/>
              <a:ea typeface="Times New Roman"/>
              <a:cs typeface="Times New Roman"/>
              <a:sym typeface="Times New Roman"/>
            </a:endParaRPr>
          </a:p>
        </p:txBody>
      </p:sp>
      <p:sp>
        <p:nvSpPr>
          <p:cNvPr id="370" name="Google Shape;370;p12"/>
          <p:cNvSpPr/>
          <p:nvPr/>
        </p:nvSpPr>
        <p:spPr>
          <a:xfrm>
            <a:off x="4542295" y="2321275"/>
            <a:ext cx="2321481" cy="29741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850" u="none" cap="none" strike="noStrike">
                <a:solidFill>
                  <a:srgbClr val="3C3939"/>
                </a:solidFill>
                <a:latin typeface="Times New Roman"/>
                <a:ea typeface="Times New Roman"/>
                <a:cs typeface="Times New Roman"/>
                <a:sym typeface="Times New Roman"/>
              </a:rPr>
              <a:t>Thực hiện nhiệm vụ</a:t>
            </a:r>
            <a:endParaRPr b="0" i="0" sz="1850" u="none" cap="none" strike="noStrike">
              <a:solidFill>
                <a:schemeClr val="dk1"/>
              </a:solidFill>
              <a:latin typeface="Times New Roman"/>
              <a:ea typeface="Times New Roman"/>
              <a:cs typeface="Times New Roman"/>
              <a:sym typeface="Times New Roman"/>
            </a:endParaRPr>
          </a:p>
        </p:txBody>
      </p:sp>
      <p:sp>
        <p:nvSpPr>
          <p:cNvPr id="371" name="Google Shape;371;p12"/>
          <p:cNvSpPr/>
          <p:nvPr/>
        </p:nvSpPr>
        <p:spPr>
          <a:xfrm>
            <a:off x="4542296" y="2732874"/>
            <a:ext cx="3359706" cy="60912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50" u="none" cap="none" strike="noStrike">
                <a:solidFill>
                  <a:srgbClr val="3C3939"/>
                </a:solidFill>
                <a:latin typeface="Times New Roman"/>
                <a:ea typeface="Times New Roman"/>
                <a:cs typeface="Times New Roman"/>
                <a:sym typeface="Times New Roman"/>
              </a:rPr>
              <a:t>Hoàn thành tốt các nhiệm vụ lập trình, kiểm thử, debug và triển khai hệ thống.</a:t>
            </a:r>
            <a:endParaRPr b="0" i="0" sz="1450" u="none" cap="none" strike="noStrike">
              <a:solidFill>
                <a:schemeClr val="dk1"/>
              </a:solidFill>
              <a:latin typeface="Times New Roman"/>
              <a:ea typeface="Times New Roman"/>
              <a:cs typeface="Times New Roman"/>
              <a:sym typeface="Times New Roman"/>
            </a:endParaRPr>
          </a:p>
        </p:txBody>
      </p:sp>
      <p:sp>
        <p:nvSpPr>
          <p:cNvPr id="372" name="Google Shape;372;p12"/>
          <p:cNvSpPr/>
          <p:nvPr/>
        </p:nvSpPr>
        <p:spPr>
          <a:xfrm>
            <a:off x="8514063" y="1624188"/>
            <a:ext cx="2992555" cy="571024"/>
          </a:xfrm>
          <a:prstGeom prst="roundRect">
            <a:avLst>
              <a:gd fmla="val 480062"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73" name="Google Shape;373;p12"/>
          <p:cNvSpPr/>
          <p:nvPr/>
        </p:nvSpPr>
        <p:spPr>
          <a:xfrm>
            <a:off x="10061433" y="1698008"/>
            <a:ext cx="201402" cy="3568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C3939"/>
              </a:buClr>
              <a:buSzPts val="2200"/>
              <a:buFont typeface="Raleway"/>
              <a:buNone/>
            </a:pPr>
            <a:r>
              <a:rPr b="0" i="0" lang="en-US" sz="2200" u="none" cap="none" strike="noStrike">
                <a:solidFill>
                  <a:srgbClr val="3C3939"/>
                </a:solidFill>
                <a:latin typeface="Times New Roman"/>
                <a:ea typeface="Times New Roman"/>
                <a:cs typeface="Times New Roman"/>
                <a:sym typeface="Times New Roman"/>
              </a:rPr>
              <a:t>3</a:t>
            </a:r>
            <a:endParaRPr b="0" i="0" sz="2200" u="none" cap="none" strike="noStrike">
              <a:solidFill>
                <a:schemeClr val="dk1"/>
              </a:solidFill>
              <a:latin typeface="Times New Roman"/>
              <a:ea typeface="Times New Roman"/>
              <a:cs typeface="Times New Roman"/>
              <a:sym typeface="Times New Roman"/>
            </a:endParaRPr>
          </a:p>
        </p:txBody>
      </p:sp>
      <p:sp>
        <p:nvSpPr>
          <p:cNvPr id="374" name="Google Shape;374;p12"/>
          <p:cNvSpPr/>
          <p:nvPr/>
        </p:nvSpPr>
        <p:spPr>
          <a:xfrm>
            <a:off x="8645402" y="2318459"/>
            <a:ext cx="2724131" cy="297418"/>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850" u="none" cap="none" strike="noStrike">
                <a:solidFill>
                  <a:srgbClr val="3C3939"/>
                </a:solidFill>
                <a:latin typeface="Times New Roman"/>
                <a:ea typeface="Times New Roman"/>
                <a:cs typeface="Times New Roman"/>
                <a:sym typeface="Times New Roman"/>
              </a:rPr>
              <a:t>Cải thiện kỹ năng mềm</a:t>
            </a:r>
            <a:endParaRPr b="0" i="0" sz="1850" u="none" cap="none" strike="noStrike">
              <a:solidFill>
                <a:schemeClr val="dk1"/>
              </a:solidFill>
              <a:latin typeface="Times New Roman"/>
              <a:ea typeface="Times New Roman"/>
              <a:cs typeface="Times New Roman"/>
              <a:sym typeface="Times New Roman"/>
            </a:endParaRPr>
          </a:p>
        </p:txBody>
      </p:sp>
      <p:sp>
        <p:nvSpPr>
          <p:cNvPr id="375" name="Google Shape;375;p12"/>
          <p:cNvSpPr/>
          <p:nvPr/>
        </p:nvSpPr>
        <p:spPr>
          <a:xfrm>
            <a:off x="8645402" y="2730296"/>
            <a:ext cx="3524250" cy="60912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50" u="none" cap="none" strike="noStrike">
                <a:solidFill>
                  <a:srgbClr val="3C3939"/>
                </a:solidFill>
                <a:latin typeface="Times New Roman"/>
                <a:ea typeface="Times New Roman"/>
                <a:cs typeface="Times New Roman"/>
                <a:sym typeface="Times New Roman"/>
              </a:rPr>
              <a:t>Nâng cao kỹ năng teamwork, quản lý thời gian, giao tiếp trong môi trường thực tế.</a:t>
            </a:r>
            <a:endParaRPr b="0" i="0" sz="1450" u="none" cap="none" strike="noStrike">
              <a:solidFill>
                <a:schemeClr val="dk1"/>
              </a:solidFill>
              <a:latin typeface="Times New Roman"/>
              <a:ea typeface="Times New Roman"/>
              <a:cs typeface="Times New Roman"/>
              <a:sym typeface="Times New Roman"/>
            </a:endParaRPr>
          </a:p>
        </p:txBody>
      </p:sp>
      <p:sp>
        <p:nvSpPr>
          <p:cNvPr id="376" name="Google Shape;376;p12"/>
          <p:cNvSpPr/>
          <p:nvPr/>
        </p:nvSpPr>
        <p:spPr>
          <a:xfrm>
            <a:off x="206500" y="3619249"/>
            <a:ext cx="7154585" cy="475893"/>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1B1B27"/>
              </a:buClr>
              <a:buSzPts val="2950"/>
              <a:buFont typeface="Raleway"/>
              <a:buNone/>
            </a:pPr>
            <a:r>
              <a:rPr b="0" i="0" lang="en-US" sz="2300" u="none" cap="none" strike="noStrike">
                <a:solidFill>
                  <a:srgbClr val="1B1B27"/>
                </a:solidFill>
                <a:latin typeface="Times New Roman"/>
                <a:ea typeface="Times New Roman"/>
                <a:cs typeface="Times New Roman"/>
                <a:sym typeface="Times New Roman"/>
              </a:rPr>
              <a:t>Nội Dung Công Việc &amp; Kết Quả Đạt Được</a:t>
            </a:r>
            <a:endParaRPr b="0" i="0" sz="2300" u="none" cap="none" strike="noStrike">
              <a:solidFill>
                <a:schemeClr val="dk1"/>
              </a:solidFill>
              <a:latin typeface="Times New Roman"/>
              <a:ea typeface="Times New Roman"/>
              <a:cs typeface="Times New Roman"/>
              <a:sym typeface="Times New Roman"/>
            </a:endParaRPr>
          </a:p>
        </p:txBody>
      </p:sp>
      <p:sp>
        <p:nvSpPr>
          <p:cNvPr id="377" name="Google Shape;377;p12"/>
          <p:cNvSpPr/>
          <p:nvPr/>
        </p:nvSpPr>
        <p:spPr>
          <a:xfrm>
            <a:off x="239230" y="4127210"/>
            <a:ext cx="6103382" cy="35683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1B27"/>
              </a:buClr>
              <a:buSzPts val="2200"/>
              <a:buFont typeface="Raleway"/>
              <a:buNone/>
            </a:pPr>
            <a:r>
              <a:rPr b="0" i="0" lang="en-US" sz="2000" u="none" cap="none" strike="noStrike">
                <a:solidFill>
                  <a:srgbClr val="1B1B27"/>
                </a:solidFill>
                <a:latin typeface="Times New Roman"/>
                <a:ea typeface="Times New Roman"/>
                <a:cs typeface="Times New Roman"/>
                <a:sym typeface="Times New Roman"/>
              </a:rPr>
              <a:t>Giới thiệu dự án: Teacher Management System</a:t>
            </a:r>
            <a:endParaRPr b="0" i="0" sz="2000" u="none" cap="none" strike="noStrike">
              <a:solidFill>
                <a:schemeClr val="dk1"/>
              </a:solidFill>
              <a:latin typeface="Times New Roman"/>
              <a:ea typeface="Times New Roman"/>
              <a:cs typeface="Times New Roman"/>
              <a:sym typeface="Times New Roman"/>
            </a:endParaRPr>
          </a:p>
        </p:txBody>
      </p:sp>
      <p:sp>
        <p:nvSpPr>
          <p:cNvPr id="378" name="Google Shape;378;p12"/>
          <p:cNvSpPr/>
          <p:nvPr/>
        </p:nvSpPr>
        <p:spPr>
          <a:xfrm>
            <a:off x="232019" y="4548176"/>
            <a:ext cx="11983047" cy="609124"/>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Dự án nhằm tối ưu hóa quy trình quản lý giảng viên, môn học và kỳ thi; tự động hóa việc đăng ký môn học, giảng thử, phân công giảng dạy và xác minh minh chứng; tích hợp OCR để trích xuất thông tin; hỗ trợ xuất báo cáo chi tiết và thống kê trực quan qua dashboard.</a:t>
            </a:r>
            <a:endParaRPr b="0" i="0" sz="1400" u="none" cap="none" strike="noStrike">
              <a:solidFill>
                <a:schemeClr val="dk1"/>
              </a:solidFill>
              <a:latin typeface="Times New Roman"/>
              <a:ea typeface="Times New Roman"/>
              <a:cs typeface="Times New Roman"/>
              <a:sym typeface="Times New Roman"/>
            </a:endParaRPr>
          </a:p>
        </p:txBody>
      </p:sp>
      <p:sp>
        <p:nvSpPr>
          <p:cNvPr id="379" name="Google Shape;379;p12"/>
          <p:cNvSpPr/>
          <p:nvPr/>
        </p:nvSpPr>
        <p:spPr>
          <a:xfrm>
            <a:off x="186299" y="5357672"/>
            <a:ext cx="5968457" cy="1353678"/>
          </a:xfrm>
          <a:prstGeom prst="roundRect">
            <a:avLst>
              <a:gd fmla="val 5706" name="adj"/>
            </a:avLst>
          </a:prstGeom>
          <a:solidFill>
            <a:srgbClr val="E1E1E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80" name="Google Shape;380;p12"/>
          <p:cNvSpPr/>
          <p:nvPr/>
        </p:nvSpPr>
        <p:spPr>
          <a:xfrm>
            <a:off x="376561" y="5361786"/>
            <a:ext cx="1973474" cy="287321"/>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600" u="none" cap="none" strike="noStrike">
                <a:solidFill>
                  <a:srgbClr val="3C3939"/>
                </a:solidFill>
                <a:latin typeface="Times New Roman"/>
                <a:ea typeface="Times New Roman"/>
                <a:cs typeface="Times New Roman"/>
                <a:sym typeface="Times New Roman"/>
              </a:rPr>
              <a:t>Role: Manage</a:t>
            </a:r>
            <a:endParaRPr b="0" i="0" sz="1600" u="none" cap="none" strike="noStrike">
              <a:solidFill>
                <a:schemeClr val="dk1"/>
              </a:solidFill>
              <a:latin typeface="Times New Roman"/>
              <a:ea typeface="Times New Roman"/>
              <a:cs typeface="Times New Roman"/>
              <a:sym typeface="Times New Roman"/>
            </a:endParaRPr>
          </a:p>
        </p:txBody>
      </p:sp>
      <p:sp>
        <p:nvSpPr>
          <p:cNvPr id="381" name="Google Shape;381;p12"/>
          <p:cNvSpPr/>
          <p:nvPr/>
        </p:nvSpPr>
        <p:spPr>
          <a:xfrm>
            <a:off x="376561" y="5690281"/>
            <a:ext cx="5429250" cy="588445"/>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Quản lý giảng viên, môn học, đăng ký môn, kỳ thi, giảng thử, phân công và báo cáo.</a:t>
            </a:r>
            <a:endParaRPr b="0" i="0" sz="1400" u="none" cap="none" strike="noStrike">
              <a:solidFill>
                <a:schemeClr val="dk1"/>
              </a:solidFill>
              <a:latin typeface="Times New Roman"/>
              <a:ea typeface="Times New Roman"/>
              <a:cs typeface="Times New Roman"/>
              <a:sym typeface="Times New Roman"/>
            </a:endParaRPr>
          </a:p>
        </p:txBody>
      </p:sp>
      <p:sp>
        <p:nvSpPr>
          <p:cNvPr id="382" name="Google Shape;382;p12"/>
          <p:cNvSpPr/>
          <p:nvPr/>
        </p:nvSpPr>
        <p:spPr>
          <a:xfrm>
            <a:off x="6154757" y="5365805"/>
            <a:ext cx="45719" cy="1353678"/>
          </a:xfrm>
          <a:prstGeom prst="roundRect">
            <a:avLst>
              <a:gd fmla="val 349754" name="adj"/>
            </a:avLst>
          </a:prstGeom>
          <a:solidFill>
            <a:srgbClr val="C7C7D0"/>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Trebuchet MS"/>
              <a:buNone/>
            </a:pPr>
            <a:r>
              <a:t/>
            </a:r>
            <a:endParaRPr sz="1800">
              <a:solidFill>
                <a:schemeClr val="dk1"/>
              </a:solidFill>
              <a:latin typeface="Times New Roman"/>
              <a:ea typeface="Times New Roman"/>
              <a:cs typeface="Times New Roman"/>
              <a:sym typeface="Times New Roman"/>
            </a:endParaRPr>
          </a:p>
        </p:txBody>
      </p:sp>
      <p:sp>
        <p:nvSpPr>
          <p:cNvPr id="383" name="Google Shape;383;p12"/>
          <p:cNvSpPr/>
          <p:nvPr/>
        </p:nvSpPr>
        <p:spPr>
          <a:xfrm>
            <a:off x="6374348" y="5398337"/>
            <a:ext cx="1973474" cy="287321"/>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3C3939"/>
              </a:buClr>
              <a:buSzPts val="1850"/>
              <a:buFont typeface="Raleway"/>
              <a:buNone/>
            </a:pPr>
            <a:r>
              <a:rPr b="0" i="0" lang="en-US" sz="1600" u="none" cap="none" strike="noStrike">
                <a:solidFill>
                  <a:srgbClr val="3C3939"/>
                </a:solidFill>
                <a:latin typeface="Times New Roman"/>
                <a:ea typeface="Times New Roman"/>
                <a:cs typeface="Times New Roman"/>
                <a:sym typeface="Times New Roman"/>
              </a:rPr>
              <a:t>Role: Teacher</a:t>
            </a:r>
            <a:endParaRPr b="0" i="0" sz="1600" u="none" cap="none" strike="noStrike">
              <a:solidFill>
                <a:schemeClr val="dk1"/>
              </a:solidFill>
              <a:latin typeface="Times New Roman"/>
              <a:ea typeface="Times New Roman"/>
              <a:cs typeface="Times New Roman"/>
              <a:sym typeface="Times New Roman"/>
            </a:endParaRPr>
          </a:p>
        </p:txBody>
      </p:sp>
      <p:sp>
        <p:nvSpPr>
          <p:cNvPr id="384" name="Google Shape;384;p12"/>
          <p:cNvSpPr/>
          <p:nvPr/>
        </p:nvSpPr>
        <p:spPr>
          <a:xfrm>
            <a:off x="6381920" y="5769009"/>
            <a:ext cx="5810080" cy="588445"/>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3C3939"/>
              </a:buClr>
              <a:buSzPts val="1450"/>
              <a:buFont typeface="Roboto"/>
              <a:buNone/>
            </a:pPr>
            <a:r>
              <a:rPr b="0" i="0" lang="en-US" sz="1400" u="none" cap="none" strike="noStrike">
                <a:solidFill>
                  <a:srgbClr val="3C3939"/>
                </a:solidFill>
                <a:latin typeface="Times New Roman"/>
                <a:ea typeface="Times New Roman"/>
                <a:cs typeface="Times New Roman"/>
                <a:sym typeface="Times New Roman"/>
              </a:rPr>
              <a:t>Quản lý profile cá nhân, đăng ký môn, xem kết quả kỳ thi, giảng thử, upload minh chứng, theo dõi phân công và báo cáo cá nhân.</a:t>
            </a:r>
            <a:endParaRPr b="0" i="0" sz="1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3"/>
          <p:cNvSpPr/>
          <p:nvPr/>
        </p:nvSpPr>
        <p:spPr>
          <a:xfrm>
            <a:off x="322775" y="0"/>
            <a:ext cx="7353000" cy="441000"/>
          </a:xfrm>
          <a:prstGeom prst="rect">
            <a:avLst/>
          </a:prstGeom>
          <a:noFill/>
          <a:ln>
            <a:noFill/>
          </a:ln>
        </p:spPr>
        <p:txBody>
          <a:bodyPr anchorCtr="0" anchor="t" bIns="0" lIns="0" spcFirstLastPara="1" rIns="0" wrap="square" tIns="0">
            <a:noAutofit/>
          </a:bodyPr>
          <a:lstStyle/>
          <a:p>
            <a:pPr indent="0" lvl="0" marL="0" marR="0" rtl="0" algn="l">
              <a:lnSpc>
                <a:spcPct val="124074"/>
              </a:lnSpc>
              <a:spcBef>
                <a:spcPts val="0"/>
              </a:spcBef>
              <a:spcAft>
                <a:spcPts val="0"/>
              </a:spcAft>
              <a:buClr>
                <a:srgbClr val="1B1B27"/>
              </a:buClr>
              <a:buSzPts val="2700"/>
              <a:buFont typeface="Raleway"/>
              <a:buNone/>
            </a:pPr>
            <a:r>
              <a:rPr b="0" i="0" lang="en-US" sz="3200" u="none" cap="none" strike="noStrike">
                <a:solidFill>
                  <a:srgbClr val="1B1B27"/>
                </a:solidFill>
                <a:latin typeface="Times New Roman"/>
                <a:ea typeface="Times New Roman"/>
                <a:cs typeface="Times New Roman"/>
                <a:sym typeface="Times New Roman"/>
              </a:rPr>
              <a:t>Công Nghệ &amp; Quy Trình Thực Hiện Dự Án</a:t>
            </a:r>
            <a:endParaRPr b="0" i="0" sz="3200" u="none" cap="none" strike="noStrike">
              <a:solidFill>
                <a:schemeClr val="dk1"/>
              </a:solidFill>
              <a:latin typeface="Times New Roman"/>
              <a:ea typeface="Times New Roman"/>
              <a:cs typeface="Times New Roman"/>
              <a:sym typeface="Times New Roman"/>
            </a:endParaRPr>
          </a:p>
        </p:txBody>
      </p:sp>
      <p:sp>
        <p:nvSpPr>
          <p:cNvPr id="390" name="Google Shape;390;p13"/>
          <p:cNvSpPr/>
          <p:nvPr/>
        </p:nvSpPr>
        <p:spPr>
          <a:xfrm>
            <a:off x="1670111" y="724333"/>
            <a:ext cx="10245664"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0" i="0" lang="en-US" sz="1600" u="none" cap="none" strike="noStrike">
                <a:solidFill>
                  <a:srgbClr val="3C3939"/>
                </a:solidFill>
                <a:latin typeface="Times New Roman"/>
                <a:ea typeface="Times New Roman"/>
                <a:cs typeface="Times New Roman"/>
                <a:sym typeface="Times New Roman"/>
              </a:rPr>
              <a:t>Dự án Teacher Management System được xây dựng trên nền tảng công nghệ hiện đại và tuân thủ quy trình Agile – Scrum.</a:t>
            </a:r>
            <a:endParaRPr b="0" i="0" sz="1600" u="none" cap="none" strike="noStrike">
              <a:solidFill>
                <a:schemeClr val="dk1"/>
              </a:solidFill>
              <a:latin typeface="Times New Roman"/>
              <a:ea typeface="Times New Roman"/>
              <a:cs typeface="Times New Roman"/>
              <a:sym typeface="Times New Roman"/>
            </a:endParaRPr>
          </a:p>
        </p:txBody>
      </p:sp>
      <p:sp>
        <p:nvSpPr>
          <p:cNvPr id="391" name="Google Shape;391;p13"/>
          <p:cNvSpPr/>
          <p:nvPr/>
        </p:nvSpPr>
        <p:spPr>
          <a:xfrm>
            <a:off x="322775" y="1219672"/>
            <a:ext cx="3194400" cy="404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1B27"/>
              </a:buClr>
              <a:buSzPts val="1600"/>
              <a:buFont typeface="Raleway"/>
              <a:buNone/>
            </a:pPr>
            <a:r>
              <a:rPr b="0" i="0" lang="en-US" sz="1600" u="none" cap="none" strike="noStrike">
                <a:solidFill>
                  <a:srgbClr val="1B1B27"/>
                </a:solidFill>
                <a:latin typeface="Times New Roman"/>
                <a:ea typeface="Times New Roman"/>
                <a:cs typeface="Times New Roman"/>
                <a:sym typeface="Times New Roman"/>
              </a:rPr>
              <a:t>Công nghệ &amp; môi trường làm việc</a:t>
            </a:r>
            <a:endParaRPr b="0" i="0" sz="1600" u="none" cap="none" strike="noStrike">
              <a:solidFill>
                <a:schemeClr val="dk1"/>
              </a:solidFill>
              <a:latin typeface="Times New Roman"/>
              <a:ea typeface="Times New Roman"/>
              <a:cs typeface="Times New Roman"/>
              <a:sym typeface="Times New Roman"/>
            </a:endParaRPr>
          </a:p>
        </p:txBody>
      </p:sp>
      <p:sp>
        <p:nvSpPr>
          <p:cNvPr id="392" name="Google Shape;392;p13"/>
          <p:cNvSpPr/>
          <p:nvPr/>
        </p:nvSpPr>
        <p:spPr>
          <a:xfrm>
            <a:off x="322775" y="1542496"/>
            <a:ext cx="3194400"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1" i="0" lang="en-US" sz="1400" u="none" cap="none" strike="noStrike">
                <a:solidFill>
                  <a:srgbClr val="3C3939"/>
                </a:solidFill>
                <a:latin typeface="Times New Roman"/>
                <a:ea typeface="Times New Roman"/>
                <a:cs typeface="Times New Roman"/>
                <a:sym typeface="Times New Roman"/>
              </a:rPr>
              <a:t>Backend:</a:t>
            </a:r>
            <a:r>
              <a:rPr b="0" i="0" lang="en-US" sz="1400" u="none" cap="none" strike="noStrike">
                <a:solidFill>
                  <a:srgbClr val="3C3939"/>
                </a:solidFill>
                <a:latin typeface="Times New Roman"/>
                <a:ea typeface="Times New Roman"/>
                <a:cs typeface="Times New Roman"/>
                <a:sym typeface="Times New Roman"/>
              </a:rPr>
              <a:t> Spring Boot, RestAPI, Websocket</a:t>
            </a:r>
            <a:endParaRPr b="0" i="0" sz="1400" u="none" cap="none" strike="noStrike">
              <a:solidFill>
                <a:schemeClr val="dk1"/>
              </a:solidFill>
              <a:latin typeface="Times New Roman"/>
              <a:ea typeface="Times New Roman"/>
              <a:cs typeface="Times New Roman"/>
              <a:sym typeface="Times New Roman"/>
            </a:endParaRPr>
          </a:p>
        </p:txBody>
      </p:sp>
      <p:sp>
        <p:nvSpPr>
          <p:cNvPr id="393" name="Google Shape;393;p13"/>
          <p:cNvSpPr/>
          <p:nvPr/>
        </p:nvSpPr>
        <p:spPr>
          <a:xfrm>
            <a:off x="322775" y="1962898"/>
            <a:ext cx="3277675"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1" i="0" lang="en-US" sz="1400" u="none" cap="none" strike="noStrike">
                <a:solidFill>
                  <a:srgbClr val="3C3939"/>
                </a:solidFill>
                <a:latin typeface="Times New Roman"/>
                <a:ea typeface="Times New Roman"/>
                <a:cs typeface="Times New Roman"/>
                <a:sym typeface="Times New Roman"/>
              </a:rPr>
              <a:t>Frontend:</a:t>
            </a:r>
            <a:r>
              <a:rPr b="0" i="0" lang="en-US" sz="1400" u="none" cap="none" strike="noStrike">
                <a:solidFill>
                  <a:srgbClr val="3C3939"/>
                </a:solidFill>
                <a:latin typeface="Times New Roman"/>
                <a:ea typeface="Times New Roman"/>
                <a:cs typeface="Times New Roman"/>
                <a:sym typeface="Times New Roman"/>
              </a:rPr>
              <a:t> React-Vite</a:t>
            </a:r>
            <a:endParaRPr b="0" i="0" sz="1400" u="none" cap="none" strike="noStrike">
              <a:solidFill>
                <a:schemeClr val="dk1"/>
              </a:solidFill>
              <a:latin typeface="Times New Roman"/>
              <a:ea typeface="Times New Roman"/>
              <a:cs typeface="Times New Roman"/>
              <a:sym typeface="Times New Roman"/>
            </a:endParaRPr>
          </a:p>
        </p:txBody>
      </p:sp>
      <p:sp>
        <p:nvSpPr>
          <p:cNvPr id="394" name="Google Shape;394;p13"/>
          <p:cNvSpPr/>
          <p:nvPr/>
        </p:nvSpPr>
        <p:spPr>
          <a:xfrm>
            <a:off x="322775" y="2383300"/>
            <a:ext cx="3277675"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1" i="0" lang="en-US" sz="1400" u="none" cap="none" strike="noStrike">
                <a:solidFill>
                  <a:srgbClr val="3C3939"/>
                </a:solidFill>
                <a:latin typeface="Times New Roman"/>
                <a:ea typeface="Times New Roman"/>
                <a:cs typeface="Times New Roman"/>
                <a:sym typeface="Times New Roman"/>
              </a:rPr>
              <a:t>Database:</a:t>
            </a:r>
            <a:r>
              <a:rPr b="0" i="0" lang="en-US" sz="1400" u="none" cap="none" strike="noStrike">
                <a:solidFill>
                  <a:srgbClr val="3C3939"/>
                </a:solidFill>
                <a:latin typeface="Times New Roman"/>
                <a:ea typeface="Times New Roman"/>
                <a:cs typeface="Times New Roman"/>
                <a:sym typeface="Times New Roman"/>
              </a:rPr>
              <a:t> MySQL, Redis</a:t>
            </a:r>
            <a:endParaRPr b="0" i="0" sz="1400" u="none" cap="none" strike="noStrike">
              <a:solidFill>
                <a:schemeClr val="dk1"/>
              </a:solidFill>
              <a:latin typeface="Times New Roman"/>
              <a:ea typeface="Times New Roman"/>
              <a:cs typeface="Times New Roman"/>
              <a:sym typeface="Times New Roman"/>
            </a:endParaRPr>
          </a:p>
        </p:txBody>
      </p:sp>
      <p:sp>
        <p:nvSpPr>
          <p:cNvPr id="395" name="Google Shape;395;p13"/>
          <p:cNvSpPr/>
          <p:nvPr/>
        </p:nvSpPr>
        <p:spPr>
          <a:xfrm>
            <a:off x="322775" y="2803702"/>
            <a:ext cx="4058725"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1" i="0" lang="en-US" sz="1400" u="none" cap="none" strike="noStrike">
                <a:solidFill>
                  <a:srgbClr val="3C3939"/>
                </a:solidFill>
                <a:latin typeface="Times New Roman"/>
                <a:ea typeface="Times New Roman"/>
                <a:cs typeface="Times New Roman"/>
                <a:sym typeface="Times New Roman"/>
              </a:rPr>
              <a:t>IDE &amp; công cụ:</a:t>
            </a:r>
            <a:r>
              <a:rPr b="0" i="0" lang="en-US" sz="1400" u="none" cap="none" strike="noStrike">
                <a:solidFill>
                  <a:srgbClr val="3C3939"/>
                </a:solidFill>
                <a:latin typeface="Times New Roman"/>
                <a:ea typeface="Times New Roman"/>
                <a:cs typeface="Times New Roman"/>
                <a:sym typeface="Times New Roman"/>
              </a:rPr>
              <a:t> IntelliJ IDEA, VS Code</a:t>
            </a:r>
            <a:endParaRPr b="0" i="0" sz="1400" u="none" cap="none" strike="noStrike">
              <a:solidFill>
                <a:schemeClr val="dk1"/>
              </a:solidFill>
              <a:latin typeface="Times New Roman"/>
              <a:ea typeface="Times New Roman"/>
              <a:cs typeface="Times New Roman"/>
              <a:sym typeface="Times New Roman"/>
            </a:endParaRPr>
          </a:p>
        </p:txBody>
      </p:sp>
      <p:sp>
        <p:nvSpPr>
          <p:cNvPr id="396" name="Google Shape;396;p13"/>
          <p:cNvSpPr/>
          <p:nvPr/>
        </p:nvSpPr>
        <p:spPr>
          <a:xfrm>
            <a:off x="322775" y="3239326"/>
            <a:ext cx="3781225"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1" i="0" lang="en-US" sz="1400" u="none" cap="none" strike="noStrike">
                <a:solidFill>
                  <a:srgbClr val="3C3939"/>
                </a:solidFill>
                <a:latin typeface="Times New Roman"/>
                <a:ea typeface="Times New Roman"/>
                <a:cs typeface="Times New Roman"/>
                <a:sym typeface="Times New Roman"/>
              </a:rPr>
              <a:t>Version control:</a:t>
            </a:r>
            <a:r>
              <a:rPr b="0" i="0" lang="en-US" sz="1400" u="none" cap="none" strike="noStrike">
                <a:solidFill>
                  <a:srgbClr val="3C3939"/>
                </a:solidFill>
                <a:latin typeface="Times New Roman"/>
                <a:ea typeface="Times New Roman"/>
                <a:cs typeface="Times New Roman"/>
                <a:sym typeface="Times New Roman"/>
              </a:rPr>
              <a:t> Git + GitHub</a:t>
            </a:r>
            <a:endParaRPr b="0" i="0" sz="1400" u="none" cap="none" strike="noStrike">
              <a:solidFill>
                <a:schemeClr val="dk1"/>
              </a:solidFill>
              <a:latin typeface="Times New Roman"/>
              <a:ea typeface="Times New Roman"/>
              <a:cs typeface="Times New Roman"/>
              <a:sym typeface="Times New Roman"/>
            </a:endParaRPr>
          </a:p>
        </p:txBody>
      </p:sp>
      <p:sp>
        <p:nvSpPr>
          <p:cNvPr id="397" name="Google Shape;397;p13"/>
          <p:cNvSpPr/>
          <p:nvPr/>
        </p:nvSpPr>
        <p:spPr>
          <a:xfrm>
            <a:off x="322775" y="3612931"/>
            <a:ext cx="4287325"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1" i="0" lang="en-US" sz="1400" u="none" cap="none" strike="noStrike">
                <a:solidFill>
                  <a:srgbClr val="3C3939"/>
                </a:solidFill>
                <a:latin typeface="Times New Roman"/>
                <a:ea typeface="Times New Roman"/>
                <a:cs typeface="Times New Roman"/>
                <a:sym typeface="Times New Roman"/>
              </a:rPr>
              <a:t>Hỗ trợ:</a:t>
            </a:r>
            <a:r>
              <a:rPr b="0" i="0" lang="en-US" sz="1400" u="none" cap="none" strike="noStrike">
                <a:solidFill>
                  <a:srgbClr val="3C3939"/>
                </a:solidFill>
                <a:latin typeface="Times New Roman"/>
                <a:ea typeface="Times New Roman"/>
                <a:cs typeface="Times New Roman"/>
                <a:sym typeface="Times New Roman"/>
              </a:rPr>
              <a:t> Docker, Postman, npm</a:t>
            </a:r>
            <a:endParaRPr b="0" i="0" sz="1400" u="none" cap="none" strike="noStrike">
              <a:solidFill>
                <a:schemeClr val="dk1"/>
              </a:solidFill>
              <a:latin typeface="Times New Roman"/>
              <a:ea typeface="Times New Roman"/>
              <a:cs typeface="Times New Roman"/>
              <a:sym typeface="Times New Roman"/>
            </a:endParaRPr>
          </a:p>
        </p:txBody>
      </p:sp>
      <p:sp>
        <p:nvSpPr>
          <p:cNvPr id="398" name="Google Shape;398;p13"/>
          <p:cNvSpPr/>
          <p:nvPr/>
        </p:nvSpPr>
        <p:spPr>
          <a:xfrm>
            <a:off x="322775" y="4220053"/>
            <a:ext cx="1723200" cy="33690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1B1B27"/>
              </a:buClr>
              <a:buSzPts val="1350"/>
              <a:buFont typeface="Raleway"/>
              <a:buNone/>
            </a:pPr>
            <a:r>
              <a:rPr b="0" i="0" lang="en-US" sz="1600" u="none" cap="none" strike="noStrike">
                <a:solidFill>
                  <a:srgbClr val="1B1B27"/>
                </a:solidFill>
                <a:latin typeface="Times New Roman"/>
                <a:ea typeface="Times New Roman"/>
                <a:cs typeface="Times New Roman"/>
                <a:sym typeface="Times New Roman"/>
              </a:rPr>
              <a:t>Tính năng đặc biệt:</a:t>
            </a:r>
            <a:endParaRPr b="0" i="0" sz="1600" u="none" cap="none" strike="noStrike">
              <a:solidFill>
                <a:schemeClr val="dk1"/>
              </a:solidFill>
              <a:latin typeface="Times New Roman"/>
              <a:ea typeface="Times New Roman"/>
              <a:cs typeface="Times New Roman"/>
              <a:sym typeface="Times New Roman"/>
            </a:endParaRPr>
          </a:p>
        </p:txBody>
      </p:sp>
      <p:sp>
        <p:nvSpPr>
          <p:cNvPr id="399" name="Google Shape;399;p13"/>
          <p:cNvSpPr/>
          <p:nvPr/>
        </p:nvSpPr>
        <p:spPr>
          <a:xfrm>
            <a:off x="322775" y="4586543"/>
            <a:ext cx="6595800"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None/>
            </a:pPr>
            <a:r>
              <a:rPr b="0" i="0" lang="en-US" sz="1400" u="none" cap="none" strike="noStrike">
                <a:solidFill>
                  <a:srgbClr val="3C3939"/>
                </a:solidFill>
                <a:latin typeface="Times New Roman"/>
                <a:ea typeface="Times New Roman"/>
                <a:cs typeface="Times New Roman"/>
                <a:sym typeface="Times New Roman"/>
              </a:rPr>
              <a:t>JWT Authentication &amp; Authorization theo role.</a:t>
            </a:r>
            <a:endParaRPr b="0" i="0" sz="1400" u="none" cap="none" strike="noStrike">
              <a:solidFill>
                <a:schemeClr val="dk1"/>
              </a:solidFill>
              <a:latin typeface="Times New Roman"/>
              <a:ea typeface="Times New Roman"/>
              <a:cs typeface="Times New Roman"/>
              <a:sym typeface="Times New Roman"/>
            </a:endParaRPr>
          </a:p>
        </p:txBody>
      </p:sp>
      <p:sp>
        <p:nvSpPr>
          <p:cNvPr id="400" name="Google Shape;400;p13"/>
          <p:cNvSpPr/>
          <p:nvPr/>
        </p:nvSpPr>
        <p:spPr>
          <a:xfrm>
            <a:off x="322775" y="5006945"/>
            <a:ext cx="6595800"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None/>
            </a:pPr>
            <a:r>
              <a:rPr b="0" i="0" lang="en-US" sz="1400" u="none" cap="none" strike="noStrike">
                <a:solidFill>
                  <a:srgbClr val="3C3939"/>
                </a:solidFill>
                <a:latin typeface="Times New Roman"/>
                <a:ea typeface="Times New Roman"/>
                <a:cs typeface="Times New Roman"/>
                <a:sym typeface="Times New Roman"/>
              </a:rPr>
              <a:t>OCR tích hợp để tự động nhận dạng thông tin từ file minh chứng.</a:t>
            </a:r>
            <a:endParaRPr b="0" i="0" sz="1400" u="none" cap="none" strike="noStrike">
              <a:solidFill>
                <a:schemeClr val="dk1"/>
              </a:solidFill>
              <a:latin typeface="Times New Roman"/>
              <a:ea typeface="Times New Roman"/>
              <a:cs typeface="Times New Roman"/>
              <a:sym typeface="Times New Roman"/>
            </a:endParaRPr>
          </a:p>
        </p:txBody>
      </p:sp>
      <p:sp>
        <p:nvSpPr>
          <p:cNvPr id="401" name="Google Shape;401;p13"/>
          <p:cNvSpPr/>
          <p:nvPr/>
        </p:nvSpPr>
        <p:spPr>
          <a:xfrm>
            <a:off x="322775" y="5427347"/>
            <a:ext cx="5373175" cy="690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None/>
            </a:pPr>
            <a:r>
              <a:rPr b="0" i="0" lang="en-US" sz="1400" u="none" cap="none" strike="noStrike">
                <a:solidFill>
                  <a:srgbClr val="3C3939"/>
                </a:solidFill>
                <a:latin typeface="Times New Roman"/>
                <a:ea typeface="Times New Roman"/>
                <a:cs typeface="Times New Roman"/>
                <a:sym typeface="Times New Roman"/>
              </a:rPr>
              <a:t>Dashboard trực quan hiển thị tổng số giảng viên, môn học, đăng ký môn, kỳ thi PASS/FAIL, giảng thử PASS/FAIL, phân công hoàn thành.</a:t>
            </a:r>
            <a:endParaRPr b="0" i="0" sz="1400" u="none" cap="none" strike="noStrike">
              <a:solidFill>
                <a:schemeClr val="dk1"/>
              </a:solidFill>
              <a:latin typeface="Times New Roman"/>
              <a:ea typeface="Times New Roman"/>
              <a:cs typeface="Times New Roman"/>
              <a:sym typeface="Times New Roman"/>
            </a:endParaRPr>
          </a:p>
        </p:txBody>
      </p:sp>
      <p:sp>
        <p:nvSpPr>
          <p:cNvPr id="402" name="Google Shape;402;p13"/>
          <p:cNvSpPr/>
          <p:nvPr/>
        </p:nvSpPr>
        <p:spPr>
          <a:xfrm>
            <a:off x="322775" y="6192714"/>
            <a:ext cx="6595800" cy="34500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None/>
            </a:pPr>
            <a:r>
              <a:rPr b="0" i="0" lang="en-US" sz="1400" u="none" cap="none" strike="noStrike">
                <a:solidFill>
                  <a:srgbClr val="3C3939"/>
                </a:solidFill>
                <a:latin typeface="Times New Roman"/>
                <a:ea typeface="Times New Roman"/>
                <a:cs typeface="Times New Roman"/>
                <a:sym typeface="Times New Roman"/>
              </a:rPr>
              <a:t>Export báo cáo ra Word, Excel, PDF.</a:t>
            </a:r>
            <a:endParaRPr b="0" i="0" sz="1400" u="none" cap="none" strike="noStrike">
              <a:solidFill>
                <a:schemeClr val="dk1"/>
              </a:solidFill>
              <a:latin typeface="Times New Roman"/>
              <a:ea typeface="Times New Roman"/>
              <a:cs typeface="Times New Roman"/>
              <a:sym typeface="Times New Roman"/>
            </a:endParaRPr>
          </a:p>
        </p:txBody>
      </p:sp>
      <p:sp>
        <p:nvSpPr>
          <p:cNvPr id="403" name="Google Shape;403;p13"/>
          <p:cNvSpPr/>
          <p:nvPr/>
        </p:nvSpPr>
        <p:spPr>
          <a:xfrm>
            <a:off x="6563035" y="1199607"/>
            <a:ext cx="3891300" cy="2586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1B27"/>
              </a:buClr>
              <a:buSzPts val="1600"/>
              <a:buFont typeface="Raleway"/>
              <a:buNone/>
            </a:pPr>
            <a:r>
              <a:rPr b="0" i="0" lang="en-US" sz="1600" u="none" cap="none" strike="noStrike">
                <a:solidFill>
                  <a:srgbClr val="1B1B27"/>
                </a:solidFill>
                <a:latin typeface="Times New Roman"/>
                <a:ea typeface="Times New Roman"/>
                <a:cs typeface="Times New Roman"/>
                <a:sym typeface="Times New Roman"/>
              </a:rPr>
              <a:t>Quy trình thực hiện dự án (Agile – Scrum)</a:t>
            </a:r>
            <a:endParaRPr b="0" i="0" sz="1600" u="none" cap="none" strike="noStrike">
              <a:solidFill>
                <a:schemeClr val="dk1"/>
              </a:solidFill>
              <a:latin typeface="Times New Roman"/>
              <a:ea typeface="Times New Roman"/>
              <a:cs typeface="Times New Roman"/>
              <a:sym typeface="Times New Roman"/>
            </a:endParaRPr>
          </a:p>
        </p:txBody>
      </p:sp>
      <p:pic>
        <p:nvPicPr>
          <p:cNvPr descr="preencoded.png" id="404" name="Google Shape;404;p13"/>
          <p:cNvPicPr preferRelativeResize="0"/>
          <p:nvPr/>
        </p:nvPicPr>
        <p:blipFill rotWithShape="1">
          <a:blip r:embed="rId3">
            <a:alphaModFix/>
          </a:blip>
          <a:srcRect b="0" l="0" r="0" t="0"/>
          <a:stretch/>
        </p:blipFill>
        <p:spPr>
          <a:xfrm>
            <a:off x="6563035" y="1627362"/>
            <a:ext cx="355540" cy="706833"/>
          </a:xfrm>
          <a:prstGeom prst="rect">
            <a:avLst/>
          </a:prstGeom>
          <a:noFill/>
          <a:ln>
            <a:noFill/>
          </a:ln>
        </p:spPr>
      </p:pic>
      <p:sp>
        <p:nvSpPr>
          <p:cNvPr id="405" name="Google Shape;405;p13"/>
          <p:cNvSpPr/>
          <p:nvPr/>
        </p:nvSpPr>
        <p:spPr>
          <a:xfrm>
            <a:off x="6947616" y="1624372"/>
            <a:ext cx="1481743" cy="13312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C3939"/>
              </a:buClr>
              <a:buSzPts val="1350"/>
              <a:buFont typeface="Raleway"/>
              <a:buNone/>
            </a:pPr>
            <a:r>
              <a:rPr b="0" i="0" lang="en-US" sz="1350" u="none" cap="none" strike="noStrike">
                <a:solidFill>
                  <a:srgbClr val="3C3939"/>
                </a:solidFill>
                <a:latin typeface="Times New Roman"/>
                <a:ea typeface="Times New Roman"/>
                <a:cs typeface="Times New Roman"/>
                <a:sym typeface="Times New Roman"/>
              </a:rPr>
              <a:t>Phân tích yêu cầu</a:t>
            </a:r>
            <a:endParaRPr b="0" i="0" sz="1350" u="none" cap="none" strike="noStrike">
              <a:solidFill>
                <a:schemeClr val="dk1"/>
              </a:solidFill>
              <a:latin typeface="Times New Roman"/>
              <a:ea typeface="Times New Roman"/>
              <a:cs typeface="Times New Roman"/>
              <a:sym typeface="Times New Roman"/>
            </a:endParaRPr>
          </a:p>
        </p:txBody>
      </p:sp>
      <p:sp>
        <p:nvSpPr>
          <p:cNvPr id="406" name="Google Shape;406;p13"/>
          <p:cNvSpPr/>
          <p:nvPr/>
        </p:nvSpPr>
        <p:spPr>
          <a:xfrm>
            <a:off x="6947616" y="1904076"/>
            <a:ext cx="5106628" cy="27272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0" i="0" lang="en-US" sz="1200" u="none" cap="none" strike="noStrike">
                <a:solidFill>
                  <a:srgbClr val="3C3939"/>
                </a:solidFill>
                <a:latin typeface="Times New Roman"/>
                <a:ea typeface="Times New Roman"/>
                <a:cs typeface="Times New Roman"/>
                <a:sym typeface="Times New Roman"/>
              </a:rPr>
              <a:t>Trao đổi với mentor, tham khảo tài liệu, xác định các chức năng cốt lõi.</a:t>
            </a:r>
            <a:endParaRPr b="0" i="0" sz="1200" u="none" cap="none" strike="noStrike">
              <a:solidFill>
                <a:schemeClr val="dk1"/>
              </a:solidFill>
              <a:latin typeface="Times New Roman"/>
              <a:ea typeface="Times New Roman"/>
              <a:cs typeface="Times New Roman"/>
              <a:sym typeface="Times New Roman"/>
            </a:endParaRPr>
          </a:p>
        </p:txBody>
      </p:sp>
      <p:pic>
        <p:nvPicPr>
          <p:cNvPr descr="preencoded.png" id="407" name="Google Shape;407;p13"/>
          <p:cNvPicPr preferRelativeResize="0"/>
          <p:nvPr/>
        </p:nvPicPr>
        <p:blipFill rotWithShape="1">
          <a:blip r:embed="rId4">
            <a:alphaModFix/>
          </a:blip>
          <a:srcRect b="0" l="0" r="0" t="0"/>
          <a:stretch/>
        </p:blipFill>
        <p:spPr>
          <a:xfrm>
            <a:off x="6563035" y="2418484"/>
            <a:ext cx="355540" cy="706833"/>
          </a:xfrm>
          <a:prstGeom prst="rect">
            <a:avLst/>
          </a:prstGeom>
          <a:noFill/>
          <a:ln>
            <a:noFill/>
          </a:ln>
        </p:spPr>
      </p:pic>
      <p:sp>
        <p:nvSpPr>
          <p:cNvPr id="408" name="Google Shape;408;p13"/>
          <p:cNvSpPr/>
          <p:nvPr/>
        </p:nvSpPr>
        <p:spPr>
          <a:xfrm>
            <a:off x="6944403" y="2385616"/>
            <a:ext cx="2660116" cy="13666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C3939"/>
              </a:buClr>
              <a:buSzPts val="1350"/>
              <a:buFont typeface="Raleway"/>
              <a:buNone/>
            </a:pPr>
            <a:r>
              <a:rPr b="0" i="0" lang="en-US" sz="1400" u="none" cap="none" strike="noStrike">
                <a:solidFill>
                  <a:srgbClr val="3C3939"/>
                </a:solidFill>
                <a:latin typeface="Times New Roman"/>
                <a:ea typeface="Times New Roman"/>
                <a:cs typeface="Times New Roman"/>
                <a:sym typeface="Times New Roman"/>
              </a:rPr>
              <a:t>Thiết kế kiến trúc hệ thống</a:t>
            </a:r>
            <a:endParaRPr b="0" i="0" sz="1400" u="none" cap="none" strike="noStrike">
              <a:solidFill>
                <a:schemeClr val="dk1"/>
              </a:solidFill>
              <a:latin typeface="Times New Roman"/>
              <a:ea typeface="Times New Roman"/>
              <a:cs typeface="Times New Roman"/>
              <a:sym typeface="Times New Roman"/>
            </a:endParaRPr>
          </a:p>
        </p:txBody>
      </p:sp>
      <p:sp>
        <p:nvSpPr>
          <p:cNvPr id="409" name="Google Shape;409;p13"/>
          <p:cNvSpPr/>
          <p:nvPr/>
        </p:nvSpPr>
        <p:spPr>
          <a:xfrm>
            <a:off x="6944403" y="2661733"/>
            <a:ext cx="4924822" cy="280561"/>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0" i="0" lang="en-US" sz="1200" u="none" cap="none" strike="noStrike">
                <a:solidFill>
                  <a:srgbClr val="3C3939"/>
                </a:solidFill>
                <a:latin typeface="Times New Roman"/>
                <a:ea typeface="Times New Roman"/>
                <a:cs typeface="Times New Roman"/>
                <a:sym typeface="Times New Roman"/>
              </a:rPr>
              <a:t>Thiết kế Backend (REST API, Spring Boot), Frontend (React-Vite), Database (MySQL). Vẽ UML, ERD.</a:t>
            </a:r>
            <a:endParaRPr b="0" i="0" sz="1200" u="none" cap="none" strike="noStrike">
              <a:solidFill>
                <a:schemeClr val="dk1"/>
              </a:solidFill>
              <a:latin typeface="Times New Roman"/>
              <a:ea typeface="Times New Roman"/>
              <a:cs typeface="Times New Roman"/>
              <a:sym typeface="Times New Roman"/>
            </a:endParaRPr>
          </a:p>
        </p:txBody>
      </p:sp>
      <p:pic>
        <p:nvPicPr>
          <p:cNvPr descr="preencoded.png" id="410" name="Google Shape;410;p13"/>
          <p:cNvPicPr preferRelativeResize="0"/>
          <p:nvPr/>
        </p:nvPicPr>
        <p:blipFill rotWithShape="1">
          <a:blip r:embed="rId4">
            <a:alphaModFix/>
          </a:blip>
          <a:srcRect b="0" l="0" r="0" t="0"/>
          <a:stretch/>
        </p:blipFill>
        <p:spPr>
          <a:xfrm>
            <a:off x="6557371" y="3444408"/>
            <a:ext cx="355540" cy="706833"/>
          </a:xfrm>
          <a:prstGeom prst="rect">
            <a:avLst/>
          </a:prstGeom>
          <a:noFill/>
          <a:ln>
            <a:noFill/>
          </a:ln>
        </p:spPr>
      </p:pic>
      <p:sp>
        <p:nvSpPr>
          <p:cNvPr id="411" name="Google Shape;411;p13"/>
          <p:cNvSpPr/>
          <p:nvPr/>
        </p:nvSpPr>
        <p:spPr>
          <a:xfrm>
            <a:off x="6944402" y="3429139"/>
            <a:ext cx="3037797" cy="268658"/>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C3939"/>
              </a:buClr>
              <a:buSzPts val="1350"/>
              <a:buFont typeface="Raleway"/>
              <a:buNone/>
            </a:pPr>
            <a:r>
              <a:rPr b="0" i="0" lang="en-US" sz="1400" u="none" cap="none" strike="noStrike">
                <a:solidFill>
                  <a:srgbClr val="3C3939"/>
                </a:solidFill>
                <a:latin typeface="Times New Roman"/>
                <a:ea typeface="Times New Roman"/>
                <a:cs typeface="Times New Roman"/>
                <a:sym typeface="Times New Roman"/>
              </a:rPr>
              <a:t>Triển khai tính năng theo phase</a:t>
            </a:r>
            <a:endParaRPr b="0" i="0" sz="1400" u="none" cap="none" strike="noStrike">
              <a:solidFill>
                <a:schemeClr val="dk1"/>
              </a:solidFill>
              <a:latin typeface="Times New Roman"/>
              <a:ea typeface="Times New Roman"/>
              <a:cs typeface="Times New Roman"/>
              <a:sym typeface="Times New Roman"/>
            </a:endParaRPr>
          </a:p>
        </p:txBody>
      </p:sp>
      <p:sp>
        <p:nvSpPr>
          <p:cNvPr id="412" name="Google Shape;412;p13"/>
          <p:cNvSpPr/>
          <p:nvPr/>
        </p:nvSpPr>
        <p:spPr>
          <a:xfrm>
            <a:off x="6944403" y="3782158"/>
            <a:ext cx="4841616" cy="27272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0" i="0" lang="en-US" sz="1200" u="none" cap="none" strike="noStrike">
                <a:solidFill>
                  <a:srgbClr val="3C3939"/>
                </a:solidFill>
                <a:latin typeface="Times New Roman"/>
                <a:ea typeface="Times New Roman"/>
                <a:cs typeface="Times New Roman"/>
                <a:sym typeface="Times New Roman"/>
              </a:rPr>
              <a:t>Phase 1: Core Features (CRUD giảng viên, môn học). Phase 2: Exam &amp; Trial. Phase 3: Assignment &amp; Reporting. Phase 4: Enhancement.</a:t>
            </a:r>
            <a:endParaRPr b="0" i="0" sz="1200" u="none" cap="none" strike="noStrike">
              <a:solidFill>
                <a:schemeClr val="dk1"/>
              </a:solidFill>
              <a:latin typeface="Times New Roman"/>
              <a:ea typeface="Times New Roman"/>
              <a:cs typeface="Times New Roman"/>
              <a:sym typeface="Times New Roman"/>
            </a:endParaRPr>
          </a:p>
        </p:txBody>
      </p:sp>
      <p:pic>
        <p:nvPicPr>
          <p:cNvPr descr="preencoded.png" id="413" name="Google Shape;413;p13"/>
          <p:cNvPicPr preferRelativeResize="0"/>
          <p:nvPr/>
        </p:nvPicPr>
        <p:blipFill rotWithShape="1">
          <a:blip r:embed="rId4">
            <a:alphaModFix/>
          </a:blip>
          <a:srcRect b="0" l="0" r="0" t="0"/>
          <a:stretch/>
        </p:blipFill>
        <p:spPr>
          <a:xfrm>
            <a:off x="6557371" y="4674926"/>
            <a:ext cx="355540" cy="706833"/>
          </a:xfrm>
          <a:prstGeom prst="rect">
            <a:avLst/>
          </a:prstGeom>
          <a:noFill/>
          <a:ln>
            <a:noFill/>
          </a:ln>
        </p:spPr>
      </p:pic>
      <p:sp>
        <p:nvSpPr>
          <p:cNvPr id="414" name="Google Shape;414;p13"/>
          <p:cNvSpPr/>
          <p:nvPr/>
        </p:nvSpPr>
        <p:spPr>
          <a:xfrm>
            <a:off x="6947616" y="4604660"/>
            <a:ext cx="1481743" cy="13312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C3939"/>
              </a:buClr>
              <a:buSzPts val="1350"/>
              <a:buFont typeface="Raleway"/>
              <a:buNone/>
            </a:pPr>
            <a:r>
              <a:rPr b="0" i="0" lang="en-US" sz="1400" u="none" cap="none" strike="noStrike">
                <a:solidFill>
                  <a:srgbClr val="3C3939"/>
                </a:solidFill>
                <a:latin typeface="Times New Roman"/>
                <a:ea typeface="Times New Roman"/>
                <a:cs typeface="Times New Roman"/>
                <a:sym typeface="Times New Roman"/>
              </a:rPr>
              <a:t>Testing &amp; Validation</a:t>
            </a:r>
            <a:endParaRPr b="0" i="0" sz="1400" u="none" cap="none" strike="noStrike">
              <a:solidFill>
                <a:schemeClr val="dk1"/>
              </a:solidFill>
              <a:latin typeface="Times New Roman"/>
              <a:ea typeface="Times New Roman"/>
              <a:cs typeface="Times New Roman"/>
              <a:sym typeface="Times New Roman"/>
            </a:endParaRPr>
          </a:p>
        </p:txBody>
      </p:sp>
      <p:sp>
        <p:nvSpPr>
          <p:cNvPr id="415" name="Google Shape;415;p13"/>
          <p:cNvSpPr/>
          <p:nvPr/>
        </p:nvSpPr>
        <p:spPr>
          <a:xfrm>
            <a:off x="6947616" y="4957680"/>
            <a:ext cx="5106628" cy="27272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0" i="0" lang="en-US" sz="1200" u="none" cap="none" strike="noStrike">
                <a:solidFill>
                  <a:srgbClr val="3C3939"/>
                </a:solidFill>
                <a:latin typeface="Times New Roman"/>
                <a:ea typeface="Times New Roman"/>
                <a:cs typeface="Times New Roman"/>
                <a:sym typeface="Times New Roman"/>
              </a:rPr>
              <a:t>Kiểm thử CRUD, đăng ký môn, phân công, OCR, xuất báo cáo. Validation dữ liệu. Test trên Docker và XAMPP.</a:t>
            </a:r>
            <a:endParaRPr b="0" i="0" sz="1200" u="none" cap="none" strike="noStrike">
              <a:solidFill>
                <a:schemeClr val="dk1"/>
              </a:solidFill>
              <a:latin typeface="Times New Roman"/>
              <a:ea typeface="Times New Roman"/>
              <a:cs typeface="Times New Roman"/>
              <a:sym typeface="Times New Roman"/>
            </a:endParaRPr>
          </a:p>
        </p:txBody>
      </p:sp>
      <p:pic>
        <p:nvPicPr>
          <p:cNvPr descr="preencoded.png" id="416" name="Google Shape;416;p13"/>
          <p:cNvPicPr preferRelativeResize="0"/>
          <p:nvPr/>
        </p:nvPicPr>
        <p:blipFill rotWithShape="1">
          <a:blip r:embed="rId4">
            <a:alphaModFix/>
          </a:blip>
          <a:srcRect b="0" l="0" r="0" t="0"/>
          <a:stretch/>
        </p:blipFill>
        <p:spPr>
          <a:xfrm>
            <a:off x="6557371" y="5788945"/>
            <a:ext cx="355540" cy="706833"/>
          </a:xfrm>
          <a:prstGeom prst="rect">
            <a:avLst/>
          </a:prstGeom>
          <a:noFill/>
          <a:ln>
            <a:noFill/>
          </a:ln>
        </p:spPr>
      </p:pic>
      <p:sp>
        <p:nvSpPr>
          <p:cNvPr id="417" name="Google Shape;417;p13"/>
          <p:cNvSpPr/>
          <p:nvPr/>
        </p:nvSpPr>
        <p:spPr>
          <a:xfrm>
            <a:off x="6947616" y="5751322"/>
            <a:ext cx="2444034" cy="272720"/>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3C3939"/>
              </a:buClr>
              <a:buSzPts val="1350"/>
              <a:buFont typeface="Raleway"/>
              <a:buNone/>
            </a:pPr>
            <a:r>
              <a:rPr b="0" i="0" lang="en-US" sz="1400" u="none" cap="none" strike="noStrike">
                <a:solidFill>
                  <a:srgbClr val="3C3939"/>
                </a:solidFill>
                <a:latin typeface="Times New Roman"/>
                <a:ea typeface="Times New Roman"/>
                <a:cs typeface="Times New Roman"/>
                <a:sym typeface="Times New Roman"/>
              </a:rPr>
              <a:t>Deployment &amp; Demo</a:t>
            </a:r>
            <a:endParaRPr b="0" i="0" sz="1400" u="none" cap="none" strike="noStrike">
              <a:solidFill>
                <a:schemeClr val="dk1"/>
              </a:solidFill>
              <a:latin typeface="Times New Roman"/>
              <a:ea typeface="Times New Roman"/>
              <a:cs typeface="Times New Roman"/>
              <a:sym typeface="Times New Roman"/>
            </a:endParaRPr>
          </a:p>
        </p:txBody>
      </p:sp>
      <p:sp>
        <p:nvSpPr>
          <p:cNvPr id="418" name="Google Shape;418;p13"/>
          <p:cNvSpPr/>
          <p:nvPr/>
        </p:nvSpPr>
        <p:spPr>
          <a:xfrm>
            <a:off x="6947616" y="6104342"/>
            <a:ext cx="5180884" cy="272720"/>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3C3939"/>
              </a:buClr>
              <a:buSzPts val="1050"/>
              <a:buFont typeface="Roboto"/>
              <a:buNone/>
            </a:pPr>
            <a:r>
              <a:rPr b="0" i="0" lang="en-US" sz="1200" u="none" cap="none" strike="noStrike">
                <a:solidFill>
                  <a:srgbClr val="3C3939"/>
                </a:solidFill>
                <a:latin typeface="Times New Roman"/>
                <a:ea typeface="Times New Roman"/>
                <a:cs typeface="Times New Roman"/>
                <a:sym typeface="Times New Roman"/>
              </a:rPr>
              <a:t>Backend deploy trên Docker, Frontend host local. Demo hệ thống, nhận phản hồi và chỉnh sửa.</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4"/>
          <p:cNvSpPr txBox="1"/>
          <p:nvPr>
            <p:ph type="title"/>
          </p:nvPr>
        </p:nvSpPr>
        <p:spPr>
          <a:xfrm>
            <a:off x="323372" y="1229033"/>
            <a:ext cx="8596668" cy="313649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7200"/>
              <a:buFont typeface="Times New Roman"/>
              <a:buNone/>
            </a:pPr>
            <a:r>
              <a:rPr lang="en-US" sz="7200">
                <a:latin typeface="Times New Roman"/>
                <a:ea typeface="Times New Roman"/>
                <a:cs typeface="Times New Roman"/>
                <a:sym typeface="Times New Roman"/>
              </a:rPr>
              <a:t>XIN CẢM ƠN </a:t>
            </a:r>
            <a:br>
              <a:rPr lang="en-US" sz="7200">
                <a:latin typeface="Times New Roman"/>
                <a:ea typeface="Times New Roman"/>
                <a:cs typeface="Times New Roman"/>
                <a:sym typeface="Times New Roman"/>
              </a:rPr>
            </a:br>
            <a:r>
              <a:rPr lang="en-US" sz="7200">
                <a:latin typeface="Times New Roman"/>
                <a:ea typeface="Times New Roman"/>
                <a:cs typeface="Times New Roman"/>
                <a:sym typeface="Times New Roman"/>
              </a:rPr>
              <a:t>VÌ ĐÃ NGHE </a:t>
            </a:r>
            <a:br>
              <a:rPr lang="en-US" sz="7200">
                <a:latin typeface="Times New Roman"/>
                <a:ea typeface="Times New Roman"/>
                <a:cs typeface="Times New Roman"/>
                <a:sym typeface="Times New Roman"/>
              </a:rPr>
            </a:br>
            <a:r>
              <a:rPr lang="en-US" sz="7200">
                <a:latin typeface="Times New Roman"/>
                <a:ea typeface="Times New Roman"/>
                <a:cs typeface="Times New Roman"/>
                <a:sym typeface="Times New Roman"/>
              </a:rPr>
              <a:t>BÀI BÁO CÁO Ạ!</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ủ đề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hương diệ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2025-12-08T09:40:17Z</dcterms:created>
  <dc:creator>Huy Phạm</dc:creator>
</cp:coreProperties>
</file>